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304" r:id="rId3"/>
    <p:sldId id="308" r:id="rId4"/>
    <p:sldId id="309" r:id="rId5"/>
    <p:sldId id="345" r:id="rId6"/>
    <p:sldId id="346" r:id="rId7"/>
    <p:sldId id="311" r:id="rId8"/>
    <p:sldId id="347" r:id="rId9"/>
    <p:sldId id="302" r:id="rId10"/>
    <p:sldId id="310" r:id="rId11"/>
    <p:sldId id="348" r:id="rId12"/>
    <p:sldId id="350" r:id="rId13"/>
    <p:sldId id="351" r:id="rId14"/>
    <p:sldId id="349" r:id="rId15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28556-689E-48E2-A990-5138BACABFD0}" type="datetimeFigureOut">
              <a:rPr lang="pt-BR" smtClean="0"/>
              <a:t>07/12/2023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73B63-F1F1-42BD-8568-7BB8F5E18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797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07/12/2023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912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 dirty="0">
                <a:solidFill>
                  <a:srgbClr val="005696"/>
                </a:solidFill>
                <a:latin typeface="Arial"/>
                <a:ea typeface="DejaVu Sans"/>
              </a:rPr>
              <a:t>Prof.: Miguel Matiolla</a:t>
            </a:r>
            <a:endParaRPr lang="pt-BR" sz="1600" b="0" strike="noStrike" spc="-1" dirty="0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2779881" y="5260240"/>
            <a:ext cx="619268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Modelagem - </a:t>
            </a:r>
            <a:r>
              <a:rPr lang="pt-BR" sz="4400" spc="-1" dirty="0">
                <a:solidFill>
                  <a:srgbClr val="005696"/>
                </a:solidFill>
                <a:latin typeface="Calibri Light"/>
              </a:rPr>
              <a:t>Aula</a:t>
            </a:r>
            <a:r>
              <a:rPr lang="pt-BR" sz="4400" dirty="0"/>
              <a:t> </a:t>
            </a:r>
            <a:r>
              <a:rPr lang="pt-BR" sz="4400" spc="-1" dirty="0">
                <a:solidFill>
                  <a:srgbClr val="005696"/>
                </a:solidFill>
                <a:latin typeface="Calibri Light"/>
              </a:rPr>
              <a:t>7</a:t>
            </a:r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723093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Cada avião tem um prefixo único, um modelo específico, nome da empresa e um peso.</a:t>
            </a:r>
          </a:p>
          <a:p>
            <a:pPr>
              <a:buClr>
                <a:srgbClr val="00B0F0"/>
              </a:buClr>
            </a:pPr>
            <a:r>
              <a:rPr lang="pt-BR" dirty="0"/>
              <a:t>O aeroporto pode conter um certo número de aviões, horários de voo, destino e horário de chegada no destino.</a:t>
            </a:r>
          </a:p>
          <a:p>
            <a:pPr>
              <a:buClr>
                <a:srgbClr val="00B0F0"/>
              </a:buClr>
            </a:pPr>
            <a:r>
              <a:rPr lang="pt-BR" dirty="0"/>
              <a:t>Um certo número de empregados trabalham no aeroporto. É necessário armazenar o seu Código, endereço, telefone e salário.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é perito num ou mais modelos de aviões.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tem um nível de qualificação, código, nome e telefone.</a:t>
            </a:r>
          </a:p>
        </p:txBody>
      </p:sp>
    </p:spTree>
    <p:extLst>
      <p:ext uri="{BB962C8B-B14F-4D97-AF65-F5344CB8AC3E}">
        <p14:creationId xmlns:p14="http://schemas.microsoft.com/office/powerpoint/2010/main" val="216665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4228" y="287455"/>
            <a:ext cx="10287691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</a:t>
            </a:r>
            <a:r>
              <a:rPr lang="pt-BR" sz="53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 – modelo conceitual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70C9A9-0D56-4CFA-9719-696E6E302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44" y="1742689"/>
            <a:ext cx="7867730" cy="42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3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7008" y="459720"/>
            <a:ext cx="5195575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Lógico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2498" y="2117138"/>
            <a:ext cx="10972440" cy="2676535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dirty="0"/>
              <a:t>Tem seu início após a criação do modelo conceitual.</a:t>
            </a:r>
          </a:p>
          <a:p>
            <a:pPr>
              <a:buClr>
                <a:srgbClr val="C00000"/>
              </a:buClr>
            </a:pPr>
            <a:r>
              <a:rPr lang="pt-BR" dirty="0"/>
              <a:t>Nível de abstração visto pelo usuário do SGBD.</a:t>
            </a:r>
          </a:p>
          <a:p>
            <a:pPr>
              <a:buClr>
                <a:srgbClr val="C00000"/>
              </a:buClr>
            </a:pPr>
            <a:r>
              <a:rPr lang="pt-BR" dirty="0"/>
              <a:t>Visão do Designer: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dirty="0"/>
              <a:t>A representação da informação de acordo com os termos da tecnologia utilizada (relacional, hierárquica, rede ou orientada a objetos) para manipulá-los.</a:t>
            </a:r>
          </a:p>
        </p:txBody>
      </p:sp>
    </p:spTree>
    <p:extLst>
      <p:ext uri="{BB962C8B-B14F-4D97-AF65-F5344CB8AC3E}">
        <p14:creationId xmlns:p14="http://schemas.microsoft.com/office/powerpoint/2010/main" val="398976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73261" y="235805"/>
            <a:ext cx="5361829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Lógico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888702"/>
            <a:ext cx="10972440" cy="4297516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pt-BR" dirty="0"/>
              <a:t>Exemplos:</a:t>
            </a:r>
          </a:p>
          <a:p>
            <a:pPr>
              <a:buClr>
                <a:srgbClr val="C00000"/>
              </a:buClr>
            </a:pPr>
            <a:r>
              <a:rPr lang="pt-BR" dirty="0"/>
              <a:t>Modelo lógico Relacional</a:t>
            </a:r>
          </a:p>
          <a:p>
            <a:pPr>
              <a:buClr>
                <a:srgbClr val="C00000"/>
              </a:buClr>
            </a:pPr>
            <a:r>
              <a:rPr lang="pt-BR" dirty="0"/>
              <a:t>Gráfico:</a:t>
            </a:r>
          </a:p>
          <a:p>
            <a:pPr>
              <a:buClr>
                <a:srgbClr val="C00000"/>
              </a:buClr>
            </a:pPr>
            <a:endParaRPr lang="pt-BR" dirty="0"/>
          </a:p>
          <a:p>
            <a:pPr>
              <a:buClr>
                <a:srgbClr val="C00000"/>
              </a:buClr>
            </a:pPr>
            <a:r>
              <a:rPr lang="pt-BR" dirty="0"/>
              <a:t>Textual: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dirty="0"/>
              <a:t>cliente( cod-cliente, nome, rua, cidade).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dirty="0"/>
              <a:t>conta(</a:t>
            </a:r>
            <a:r>
              <a:rPr lang="pt-BR" dirty="0" err="1"/>
              <a:t>nro</a:t>
            </a:r>
            <a:r>
              <a:rPr lang="pt-BR" dirty="0"/>
              <a:t>-conta, saldo).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dirty="0"/>
              <a:t>cliente-conta(cod-cliente, </a:t>
            </a:r>
            <a:r>
              <a:rPr lang="pt-BR" dirty="0" err="1"/>
              <a:t>nro</a:t>
            </a:r>
            <a:r>
              <a:rPr lang="pt-BR" dirty="0"/>
              <a:t>-conta).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60" y="2924945"/>
            <a:ext cx="6139956" cy="111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9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4228" y="287455"/>
            <a:ext cx="10287691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</a:t>
            </a:r>
            <a:r>
              <a:rPr lang="pt-BR" sz="53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 – modelo lógico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A754DD1-0E1B-470E-91D1-F0BAAEA6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953" y="1432255"/>
            <a:ext cx="7802064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6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4228" y="287455"/>
            <a:ext cx="10287691" cy="1144800"/>
          </a:xfrm>
        </p:spPr>
        <p:txBody>
          <a:bodyPr>
            <a:normAutofit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Criando modelo lógico</a:t>
            </a:r>
            <a:endParaRPr lang="pt-BR" sz="53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7230" y="2462649"/>
            <a:ext cx="3844689" cy="3977280"/>
          </a:xfrm>
        </p:spPr>
        <p:txBody>
          <a:bodyPr/>
          <a:lstStyle/>
          <a:p>
            <a:r>
              <a:rPr lang="pt-BR" dirty="0"/>
              <a:t>Abrir modelo conceitual do projeto aeroporto e clicar no botão “Gerar esquema lógico”, após salvar o modelo lógico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D73FA5-BFDB-44FD-BB76-4AF54F23F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255"/>
            <a:ext cx="7582958" cy="5277587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A148A835-D61A-481A-A9BF-16B6DE07D776}"/>
              </a:ext>
            </a:extLst>
          </p:cNvPr>
          <p:cNvSpPr/>
          <p:nvPr/>
        </p:nvSpPr>
        <p:spPr>
          <a:xfrm rot="4437424">
            <a:off x="6569382" y="1333074"/>
            <a:ext cx="407963" cy="8159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8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75044" y="232036"/>
            <a:ext cx="7550847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3</a:t>
            </a:r>
            <a:br>
              <a:rPr lang="pt-BR" dirty="0"/>
            </a:br>
            <a:r>
              <a:rPr lang="pt-BR" dirty="0"/>
              <a:t>   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Escola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1373" y="1641764"/>
            <a:ext cx="11748654" cy="40801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/>
              <a:t>1. A Universidade é organizada por cursos. Cada curso possui um nome, um identificador, turno e área de conhecimento.</a:t>
            </a:r>
          </a:p>
          <a:p>
            <a:pPr marL="0" indent="0">
              <a:buNone/>
            </a:pPr>
            <a:r>
              <a:rPr lang="pt-BR" sz="1600" dirty="0"/>
              <a:t>2.Deseja-se salvar a data em que o aluno fez sua matrícula no curso. Cada aluno pode estar matriculado em um único curso.</a:t>
            </a:r>
          </a:p>
          <a:p>
            <a:pPr marL="0" indent="0">
              <a:buNone/>
            </a:pPr>
            <a:r>
              <a:rPr lang="pt-BR" sz="1600" dirty="0"/>
              <a:t>3. Um aluno é caracterizado por nome, número de matrícula, data de nascimento, gênero, rua, CEP, bairro e cidade.</a:t>
            </a:r>
          </a:p>
          <a:p>
            <a:pPr marL="0" indent="0">
              <a:buNone/>
            </a:pPr>
            <a:r>
              <a:rPr lang="pt-BR" sz="1600" dirty="0"/>
              <a:t>5. Cada aluno cursa um determinado número de disciplinas. Uma disciplina é caracterizada por um código e uma descrição.</a:t>
            </a:r>
          </a:p>
          <a:p>
            <a:pPr marL="0" indent="0">
              <a:buNone/>
            </a:pPr>
            <a:r>
              <a:rPr lang="pt-BR" sz="1600" dirty="0"/>
              <a:t>6. Cada disciplina ocupa uma única sala em um único local</a:t>
            </a:r>
          </a:p>
          <a:p>
            <a:pPr marL="0" indent="0">
              <a:buNone/>
            </a:pPr>
            <a:r>
              <a:rPr lang="pt-BR" sz="1600" dirty="0"/>
              <a:t>7. Uma sala é caracterizada por um código, um nome e uma localização.</a:t>
            </a:r>
          </a:p>
          <a:p>
            <a:pPr marL="0" indent="0">
              <a:buNone/>
            </a:pPr>
            <a:r>
              <a:rPr lang="pt-BR" sz="1600" dirty="0"/>
              <a:t>8. A universidade é formada por um corpo docente, onde cada professor pode lecionar em uma ou mais disciplinas e cada uma destas pode ser lecionada por vários professores.</a:t>
            </a:r>
          </a:p>
          <a:p>
            <a:pPr marL="0" indent="0">
              <a:buNone/>
            </a:pPr>
            <a:r>
              <a:rPr lang="pt-BR" sz="1600" dirty="0"/>
              <a:t>9. Um professor possui por um código, um nome, um endereço e pode ter vários telefones.</a:t>
            </a:r>
          </a:p>
          <a:p>
            <a:pPr marL="0" indent="0">
              <a:buNone/>
            </a:pPr>
            <a:r>
              <a:rPr lang="pt-BR" sz="1600" dirty="0"/>
              <a:t>10.Cada professor pode possuir dependentes, os quais são caracterizados por código, nome, data de nascimento e grau de parentesco.</a:t>
            </a:r>
          </a:p>
          <a:p>
            <a:pPr marL="0" indent="0">
              <a:buNone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6564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/>
          </a:bodyPr>
          <a:lstStyle/>
          <a:p>
            <a:pPr algn="ctr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3</a:t>
            </a:r>
            <a:br>
              <a:rPr lang="pt-BR" dirty="0"/>
            </a:br>
            <a:r>
              <a:rPr lang="pt-BR" dirty="0"/>
              <a:t> </a:t>
            </a:r>
            <a:r>
              <a:rPr lang="pt-BR" b="1" spc="-1" dirty="0">
                <a:solidFill>
                  <a:srgbClr val="005696"/>
                </a:solidFill>
                <a:latin typeface="Calibri Light"/>
              </a:rPr>
              <a:t>Escola – modelo conceitual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70C0E1-F256-41A8-BDFE-1F7E61F65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15" y="1497679"/>
            <a:ext cx="8588385" cy="502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9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/>
          </a:bodyPr>
          <a:lstStyle/>
          <a:p>
            <a:pPr algn="ctr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3</a:t>
            </a:r>
            <a:br>
              <a:rPr lang="pt-BR" dirty="0"/>
            </a:br>
            <a:r>
              <a:rPr lang="pt-BR" dirty="0"/>
              <a:t> </a:t>
            </a:r>
            <a:r>
              <a:rPr lang="pt-BR" b="1" spc="-1" dirty="0">
                <a:solidFill>
                  <a:srgbClr val="005696"/>
                </a:solidFill>
                <a:latin typeface="Calibri Light"/>
              </a:rPr>
              <a:t>Escola – modelo lógico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9442791-6421-4B85-9EBB-BDBB59719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10" y="1654959"/>
            <a:ext cx="8021169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2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68462" y="342872"/>
            <a:ext cx="5070884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Físico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3226" y="2200266"/>
            <a:ext cx="10972440" cy="2731953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pt-BR" dirty="0"/>
              <a:t>Contém detalhes de armazenamento interno de informações.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dirty="0"/>
              <a:t>Visão do desenvolvedor: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dirty="0"/>
              <a:t>Descreve como os dados podem ser armazenados em um meio físico.</a:t>
            </a:r>
          </a:p>
          <a:p>
            <a:pPr>
              <a:buClr>
                <a:srgbClr val="C00000"/>
              </a:buClr>
            </a:pPr>
            <a:r>
              <a:rPr lang="pt-BR" dirty="0"/>
              <a:t>Detalhes que influenciam a performance da aplicações</a:t>
            </a:r>
          </a:p>
          <a:p>
            <a:pPr>
              <a:buClr>
                <a:srgbClr val="C00000"/>
              </a:buClr>
            </a:pPr>
            <a:r>
              <a:rPr lang="pt-BR" dirty="0"/>
              <a:t>Usados por profissionais que fazem </a:t>
            </a:r>
            <a:r>
              <a:rPr lang="pt-BR" i="1" dirty="0" err="1"/>
              <a:t>tunning</a:t>
            </a:r>
            <a:r>
              <a:rPr lang="pt-BR" i="1" dirty="0"/>
              <a:t> </a:t>
            </a:r>
            <a:r>
              <a:rPr lang="pt-BR" dirty="0"/>
              <a:t>de performance em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3020860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02208" y="425961"/>
            <a:ext cx="4987756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Físico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00000"/>
              </a:buClr>
            </a:pPr>
            <a:r>
              <a:rPr lang="pt-BR" dirty="0"/>
              <a:t>Exemplo de Modelo Físico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BR" dirty="0"/>
              <a:t>Gráfico: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2" y="3323121"/>
            <a:ext cx="8053939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90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/>
          </a:bodyPr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Desafio</a:t>
            </a:r>
            <a:r>
              <a:rPr lang="pt-BR" dirty="0"/>
              <a:t> 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546E5C4-96B0-4F3C-99E5-BCB59883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o modelo conceitual e lógico do projeto do PI</a:t>
            </a:r>
          </a:p>
          <a:p>
            <a:r>
              <a:rPr lang="pt-BR" dirty="0"/>
              <a:t>Para nível de exercício, você pode criar o modelo conceitual de uma única etapa do projeto e gerar o modelo lógico.</a:t>
            </a:r>
          </a:p>
        </p:txBody>
      </p:sp>
    </p:spTree>
    <p:extLst>
      <p:ext uri="{BB962C8B-B14F-4D97-AF65-F5344CB8AC3E}">
        <p14:creationId xmlns:p14="http://schemas.microsoft.com/office/powerpoint/2010/main" val="399463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1328</TotalTime>
  <Words>539</Words>
  <Application>Microsoft Office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Wingdings</vt:lpstr>
      <vt:lpstr>Office Theme</vt:lpstr>
      <vt:lpstr>Office Theme</vt:lpstr>
      <vt:lpstr>Apresentação do PowerPoint</vt:lpstr>
      <vt:lpstr>Atividade 2                   Aeroporto</vt:lpstr>
      <vt:lpstr>Atividade 2               Aeroporto – modelo conceitual</vt:lpstr>
      <vt:lpstr>Modelo Lógico</vt:lpstr>
      <vt:lpstr>Modelo Lógico</vt:lpstr>
      <vt:lpstr>Atividade 2               Aeroporto – modelo lógico</vt:lpstr>
      <vt:lpstr>Atividade 2 Criando modelo lógico</vt:lpstr>
      <vt:lpstr>Atividade 3                      Escola</vt:lpstr>
      <vt:lpstr>Atividade 3  Escola – modelo conceitual</vt:lpstr>
      <vt:lpstr>Atividade 3  Escola – modelo lógico</vt:lpstr>
      <vt:lpstr>Modelo Físico</vt:lpstr>
      <vt:lpstr>Modelo Físico</vt:lpstr>
      <vt:lpstr>Desafio 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Miguel Angelo Matiolla</cp:lastModifiedBy>
  <cp:revision>85</cp:revision>
  <dcterms:created xsi:type="dcterms:W3CDTF">2019-04-01T17:03:04Z</dcterms:created>
  <dcterms:modified xsi:type="dcterms:W3CDTF">2023-12-07T22:50:24Z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