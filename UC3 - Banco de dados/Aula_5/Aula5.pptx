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48"/>
  </p:notesMasterIdLst>
  <p:sldIdLst>
    <p:sldId id="304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7" r:id="rId43"/>
    <p:sldId id="308" r:id="rId44"/>
    <p:sldId id="311" r:id="rId45"/>
    <p:sldId id="309" r:id="rId46"/>
    <p:sldId id="310" r:id="rId47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28556-689E-48E2-A990-5138BACABFD0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73B63-F1F1-42BD-8568-7BB8F5E18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797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16/06/2025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912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 dirty="0">
                <a:solidFill>
                  <a:srgbClr val="005696"/>
                </a:solidFill>
                <a:latin typeface="Arial"/>
                <a:ea typeface="DejaVu Sans"/>
              </a:rPr>
              <a:t>Prof.: Miguel Matiolla</a:t>
            </a:r>
            <a:endParaRPr lang="pt-BR" sz="1600" b="0" strike="noStrike" spc="-1" dirty="0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2779881" y="5260240"/>
            <a:ext cx="619268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Modelagem - </a:t>
            </a:r>
            <a:r>
              <a:rPr lang="pt-BR" sz="4400" spc="-1" dirty="0">
                <a:solidFill>
                  <a:srgbClr val="005696"/>
                </a:solidFill>
                <a:latin typeface="Calibri Light"/>
              </a:rPr>
              <a:t>Aula</a:t>
            </a:r>
            <a:r>
              <a:rPr lang="pt-BR" sz="4400" dirty="0"/>
              <a:t> </a:t>
            </a:r>
            <a:r>
              <a:rPr lang="pt-BR" sz="4400" spc="-1" dirty="0">
                <a:solidFill>
                  <a:srgbClr val="005696"/>
                </a:solidFill>
                <a:latin typeface="Calibri Light"/>
              </a:rPr>
              <a:t>5</a:t>
            </a:r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723093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7398447" cy="1144800"/>
          </a:xfrm>
        </p:spPr>
        <p:txBody>
          <a:bodyPr/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8643" y="1992447"/>
            <a:ext cx="10972440" cy="1582025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Apresentar a Modelagem Conceitual;</a:t>
            </a:r>
          </a:p>
          <a:p>
            <a:pPr>
              <a:buClr>
                <a:srgbClr val="00B0F0"/>
              </a:buClr>
            </a:pPr>
            <a:r>
              <a:rPr lang="pt-BR" dirty="0"/>
              <a:t>Aprender a construir um modelo relacional utilizando o Diagrama de Entidade-Relacionamento.</a:t>
            </a:r>
          </a:p>
        </p:txBody>
      </p:sp>
    </p:spTree>
    <p:extLst>
      <p:ext uri="{BB962C8B-B14F-4D97-AF65-F5344CB8AC3E}">
        <p14:creationId xmlns:p14="http://schemas.microsoft.com/office/powerpoint/2010/main" val="95118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09912">
            <a:off x="5941005" y="1477768"/>
            <a:ext cx="5824100" cy="347258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5819029" cy="1144800"/>
          </a:xfrm>
        </p:spPr>
        <p:txBody>
          <a:bodyPr/>
          <a:lstStyle/>
          <a:p>
            <a:pPr algn="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Anteriormente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1673" y="2541050"/>
            <a:ext cx="5525228" cy="3041072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Modelo Conceitual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dirty="0"/>
              <a:t>Como a grande maioria dos usuários percebem os dados;</a:t>
            </a:r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endParaRPr lang="pt-BR" dirty="0"/>
          </a:p>
          <a:p>
            <a:pPr lvl="1"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pt-BR" dirty="0"/>
              <a:t>Independente da abordagem do banco de dados;</a:t>
            </a:r>
          </a:p>
        </p:txBody>
      </p:sp>
    </p:spTree>
    <p:extLst>
      <p:ext uri="{BB962C8B-B14F-4D97-AF65-F5344CB8AC3E}">
        <p14:creationId xmlns:p14="http://schemas.microsoft.com/office/powerpoint/2010/main" val="19271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560" y="398291"/>
            <a:ext cx="8464767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Diagrama Conceitual –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5222" y="2473927"/>
            <a:ext cx="11236156" cy="2084218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sz="3000" dirty="0"/>
              <a:t>Diagrama de Entidade-Relacionamento(E-R)</a:t>
            </a:r>
          </a:p>
          <a:p>
            <a:pPr marL="0" indent="0">
              <a:buClr>
                <a:srgbClr val="00B0F0"/>
              </a:buClr>
              <a:buNone/>
            </a:pPr>
            <a:endParaRPr lang="pt-BR" sz="3000" dirty="0"/>
          </a:p>
          <a:p>
            <a:pPr lvl="1">
              <a:buClr>
                <a:srgbClr val="00B0F0"/>
              </a:buClr>
            </a:pPr>
            <a:r>
              <a:rPr lang="pt-BR" dirty="0"/>
              <a:t>PeterChen-1976:constitui-se numa forma gráfica de Modelagem Conceitual;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Técnica mais difundida de modelagem conceitual;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65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6539465" cy="1144800"/>
          </a:xfrm>
        </p:spPr>
        <p:txBody>
          <a:bodyPr/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34291" y="1707216"/>
            <a:ext cx="8229600" cy="4024745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Entidades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Representa um </a:t>
            </a:r>
            <a:r>
              <a:rPr lang="pt-BR" sz="4000" dirty="0">
                <a:solidFill>
                  <a:srgbClr val="00B050"/>
                </a:solidFill>
              </a:rPr>
              <a:t>objeto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do mundo real;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Possui existência própria e </a:t>
            </a:r>
            <a:r>
              <a:rPr lang="pt-BR" sz="4000" dirty="0">
                <a:solidFill>
                  <a:schemeClr val="accent2">
                    <a:lumMod val="75000"/>
                  </a:schemeClr>
                </a:solidFill>
              </a:rPr>
              <a:t>características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dirty="0"/>
              <a:t>que desejamos armazenar;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Pode ser um </a:t>
            </a:r>
            <a:r>
              <a:rPr lang="pt-BR" sz="4000" dirty="0">
                <a:solidFill>
                  <a:srgbClr val="FFC000"/>
                </a:solidFill>
              </a:rPr>
              <a:t>concreto</a:t>
            </a:r>
            <a:r>
              <a:rPr lang="pt-BR" dirty="0"/>
              <a:t>;</a:t>
            </a:r>
          </a:p>
          <a:p>
            <a:pPr lvl="2">
              <a:buClr>
                <a:srgbClr val="00B0F0"/>
              </a:buClr>
            </a:pPr>
            <a:r>
              <a:rPr lang="pt-BR" dirty="0"/>
              <a:t>Ex.:(pessoa, carro, livro, </a:t>
            </a:r>
            <a:r>
              <a:rPr lang="pt-BR" dirty="0" err="1"/>
              <a:t>etc</a:t>
            </a:r>
            <a:r>
              <a:rPr lang="pt-BR" dirty="0"/>
              <a:t>).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Pode ser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abstrato</a:t>
            </a:r>
            <a:r>
              <a:rPr lang="pt-BR" dirty="0"/>
              <a:t>;</a:t>
            </a:r>
          </a:p>
          <a:p>
            <a:pPr lvl="2">
              <a:buClr>
                <a:srgbClr val="00B0F0"/>
              </a:buClr>
            </a:pPr>
            <a:r>
              <a:rPr lang="pt-BR" dirty="0"/>
              <a:t>Ex:(departamento, projeto, curso).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408" y="3719589"/>
            <a:ext cx="3156873" cy="9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0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5528084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877" y="2313338"/>
            <a:ext cx="9601320" cy="1974272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Atributos</a:t>
            </a:r>
          </a:p>
          <a:p>
            <a:pPr lvl="1">
              <a:buClr>
                <a:srgbClr val="00B0F0"/>
              </a:buClr>
            </a:pP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Características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dirty="0"/>
              <a:t>do objeto que desejamos armazenar.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Cada atributo de uma entidade possui um </a:t>
            </a:r>
            <a:r>
              <a:rPr lang="pt-BR" sz="4000" dirty="0">
                <a:solidFill>
                  <a:srgbClr val="00B050"/>
                </a:solidFill>
              </a:rPr>
              <a:t>nome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específico.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88" y="4431165"/>
            <a:ext cx="385201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0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5846738" cy="1144800"/>
          </a:xfrm>
        </p:spPr>
        <p:txBody>
          <a:bodyPr/>
          <a:lstStyle/>
          <a:p>
            <a:pPr algn="ctr"/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2132856"/>
            <a:ext cx="7616482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2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54607" y="287455"/>
            <a:ext cx="6179247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Atributo Simples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1" y="1916832"/>
            <a:ext cx="7120655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0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0643" y="315164"/>
            <a:ext cx="4960047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45128" y="2223656"/>
            <a:ext cx="9125450" cy="2514600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Atributos Compostos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 lvl="1">
              <a:buClr>
                <a:srgbClr val="00B0F0"/>
              </a:buClr>
            </a:pPr>
            <a:r>
              <a:rPr lang="pt-BR" dirty="0"/>
              <a:t>Podem ser </a:t>
            </a:r>
            <a:r>
              <a:rPr lang="pt-BR" sz="4000" dirty="0">
                <a:solidFill>
                  <a:srgbClr val="00B050"/>
                </a:solidFill>
              </a:rPr>
              <a:t>divididos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em várias partes;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Ex: Endereço pode ser subdividido em Rua, Numero e Bairro.</a:t>
            </a:r>
          </a:p>
        </p:txBody>
      </p:sp>
    </p:spTree>
    <p:extLst>
      <p:ext uri="{BB962C8B-B14F-4D97-AF65-F5344CB8AC3E}">
        <p14:creationId xmlns:p14="http://schemas.microsoft.com/office/powerpoint/2010/main" val="425215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4857" y="315164"/>
            <a:ext cx="655332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Atributo Composto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57" y="1628801"/>
            <a:ext cx="8396403" cy="470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9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29226" y="273600"/>
            <a:ext cx="5749756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844430"/>
            <a:ext cx="10972440" cy="2482571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Atributos Multivalorados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Podem assumir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diversos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dirty="0"/>
              <a:t>valores;</a:t>
            </a:r>
          </a:p>
          <a:p>
            <a:pPr>
              <a:buClr>
                <a:srgbClr val="00B0F0"/>
              </a:buClr>
            </a:pPr>
            <a:r>
              <a:rPr lang="pt-BR" dirty="0"/>
              <a:t>O atributo Telefone pode assumir diversos valores;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70" y="4753031"/>
            <a:ext cx="4461689" cy="146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3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6062" y="301309"/>
            <a:ext cx="7606265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Atributo Multivalorado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564" y="1988841"/>
            <a:ext cx="8343894" cy="416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67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85335" y="370582"/>
            <a:ext cx="670572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2061720"/>
            <a:ext cx="10972440" cy="2953625"/>
          </a:xfrm>
        </p:spPr>
        <p:txBody>
          <a:bodyPr>
            <a:no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Atributos Derivado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Alguns atributos podem ter uma </a:t>
            </a:r>
            <a:r>
              <a:rPr lang="pt-BR" sz="4000" dirty="0">
                <a:solidFill>
                  <a:srgbClr val="0070C0"/>
                </a:solidFill>
              </a:rPr>
              <a:t>relação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/>
              <a:t>entre si. </a:t>
            </a:r>
          </a:p>
          <a:p>
            <a:pPr>
              <a:buClr>
                <a:srgbClr val="00B0F0"/>
              </a:buClr>
            </a:pPr>
            <a:r>
              <a:rPr lang="pt-BR" dirty="0"/>
              <a:t>Para uma pessoa em particular, podemos determinar o valor atual de 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idade</a:t>
            </a:r>
            <a:r>
              <a:rPr lang="pt-BR" dirty="0"/>
              <a:t> através do atributo </a:t>
            </a:r>
            <a:r>
              <a:rPr lang="pt-BR" sz="4000" dirty="0">
                <a:solidFill>
                  <a:srgbClr val="7030A0"/>
                </a:solidFill>
              </a:rPr>
              <a:t>data-nascimento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3507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5805175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4520"/>
            <a:ext cx="10972440" cy="3424680"/>
          </a:xfrm>
        </p:spPr>
        <p:txBody>
          <a:bodyPr>
            <a:no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Atributos Derivado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Um atributo 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número-empregados</a:t>
            </a:r>
            <a:r>
              <a:rPr lang="pt-BR" dirty="0"/>
              <a:t> de uma entidade </a:t>
            </a:r>
            <a:r>
              <a:rPr lang="pt-BR" sz="4000" dirty="0">
                <a:solidFill>
                  <a:srgbClr val="0070C0"/>
                </a:solidFill>
              </a:rPr>
              <a:t>departamento</a:t>
            </a:r>
            <a:r>
              <a:rPr lang="pt-BR" dirty="0"/>
              <a:t> pode ser derivado através da </a:t>
            </a:r>
            <a:r>
              <a:rPr lang="pt-BR" sz="4000" dirty="0">
                <a:solidFill>
                  <a:srgbClr val="00B050"/>
                </a:solidFill>
              </a:rPr>
              <a:t>contagem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de número de empregados que trabalham para um departamento.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0307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662" y="356728"/>
            <a:ext cx="6761138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Atributo Derivado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77" y="1628801"/>
            <a:ext cx="9062060" cy="463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13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0644" y="505300"/>
            <a:ext cx="5860593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881801"/>
            <a:ext cx="10972440" cy="2676535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Atributos-Chave</a:t>
            </a:r>
          </a:p>
          <a:p>
            <a:pPr>
              <a:buClr>
                <a:srgbClr val="00B0F0"/>
              </a:buClr>
            </a:pPr>
            <a:endParaRPr lang="pt-BR" dirty="0"/>
          </a:p>
          <a:p>
            <a:pPr lvl="1">
              <a:buClr>
                <a:srgbClr val="00B0F0"/>
              </a:buClr>
            </a:pPr>
            <a:r>
              <a:rPr lang="pt-BR" dirty="0"/>
              <a:t>Atributo cujos valores são </a:t>
            </a:r>
            <a:r>
              <a:rPr lang="pt-BR" sz="4000" dirty="0">
                <a:solidFill>
                  <a:srgbClr val="00B0F0"/>
                </a:solidFill>
              </a:rPr>
              <a:t>distintos</a:t>
            </a: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dirty="0"/>
              <a:t>para cada entidade em um conjunto de entidades.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Ex: O CPF de um funcionário.</a:t>
            </a:r>
          </a:p>
          <a:p>
            <a:pPr>
              <a:buClr>
                <a:srgbClr val="00B0F0"/>
              </a:buClr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759" y="5021738"/>
            <a:ext cx="5181645" cy="15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50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6" y="1523434"/>
            <a:ext cx="8796908" cy="455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05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11262" y="342873"/>
            <a:ext cx="6678011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26412" y="2036053"/>
            <a:ext cx="11138575" cy="2840748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3000" dirty="0"/>
              <a:t>É uma </a:t>
            </a:r>
            <a:r>
              <a:rPr lang="pt-BR" sz="4000" dirty="0">
                <a:solidFill>
                  <a:srgbClr val="00B050"/>
                </a:solidFill>
              </a:rPr>
              <a:t>associação</a:t>
            </a:r>
            <a:r>
              <a:rPr lang="pt-BR" sz="3000" dirty="0">
                <a:solidFill>
                  <a:srgbClr val="00B050"/>
                </a:solidFill>
              </a:rPr>
              <a:t> </a:t>
            </a:r>
            <a:r>
              <a:rPr lang="pt-BR" sz="3000" dirty="0"/>
              <a:t>entre </a:t>
            </a:r>
            <a:r>
              <a:rPr lang="pt-BR" sz="4000" dirty="0">
                <a:solidFill>
                  <a:srgbClr val="C00000"/>
                </a:solidFill>
              </a:rPr>
              <a:t>uma</a:t>
            </a:r>
            <a:r>
              <a:rPr lang="pt-BR" sz="3000" dirty="0">
                <a:solidFill>
                  <a:srgbClr val="C00000"/>
                </a:solidFill>
              </a:rPr>
              <a:t> </a:t>
            </a:r>
            <a:r>
              <a:rPr lang="pt-BR" sz="3000" dirty="0"/>
              <a:t>ou </a:t>
            </a:r>
            <a:r>
              <a:rPr lang="pt-BR" sz="4000" dirty="0">
                <a:solidFill>
                  <a:schemeClr val="accent2">
                    <a:lumMod val="75000"/>
                  </a:schemeClr>
                </a:solidFill>
              </a:rPr>
              <a:t>várias</a:t>
            </a:r>
            <a:r>
              <a:rPr lang="pt-BR" sz="3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3000" dirty="0"/>
              <a:t>entidades.</a:t>
            </a:r>
          </a:p>
          <a:p>
            <a:pPr>
              <a:buClr>
                <a:srgbClr val="00B0F0"/>
              </a:buClr>
            </a:pPr>
            <a:r>
              <a:rPr lang="pt-BR" sz="3000" dirty="0"/>
              <a:t>Representa o que acontece no mundo </a:t>
            </a:r>
            <a:r>
              <a:rPr lang="pt-BR" sz="4000" dirty="0">
                <a:solidFill>
                  <a:srgbClr val="FFC000"/>
                </a:solidFill>
              </a:rPr>
              <a:t>real</a:t>
            </a:r>
            <a:r>
              <a:rPr lang="pt-BR" sz="3000" dirty="0"/>
              <a:t>.</a:t>
            </a:r>
          </a:p>
          <a:p>
            <a:pPr>
              <a:buClr>
                <a:srgbClr val="00B0F0"/>
              </a:buClr>
            </a:pPr>
            <a:r>
              <a:rPr lang="pt-BR" sz="3000" dirty="0"/>
              <a:t>A </a:t>
            </a:r>
            <a:r>
              <a:rPr lang="pt-BR" sz="4000" dirty="0">
                <a:solidFill>
                  <a:srgbClr val="7030A0"/>
                </a:solidFill>
              </a:rPr>
              <a:t>função</a:t>
            </a:r>
            <a:r>
              <a:rPr lang="pt-BR" sz="3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000" dirty="0"/>
              <a:t>que uma entidade desempenha em um relacionamento é chamada </a:t>
            </a:r>
            <a:r>
              <a:rPr lang="pt-BR" sz="4000" dirty="0">
                <a:solidFill>
                  <a:srgbClr val="0070C0"/>
                </a:solidFill>
              </a:rPr>
              <a:t>papel</a:t>
            </a:r>
            <a:r>
              <a:rPr lang="pt-BR" sz="3000" dirty="0"/>
              <a:t>.</a:t>
            </a:r>
          </a:p>
          <a:p>
            <a:pPr marL="0" indent="0">
              <a:buClr>
                <a:srgbClr val="00B0F0"/>
              </a:buClr>
              <a:buNone/>
            </a:pP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365123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0534" y="426000"/>
            <a:ext cx="7689393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4788" y="2168238"/>
            <a:ext cx="11360847" cy="1156853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Ao definir as entidades </a:t>
            </a:r>
            <a:r>
              <a:rPr lang="pt-BR" sz="4000" dirty="0">
                <a:solidFill>
                  <a:srgbClr val="7030A0"/>
                </a:solidFill>
              </a:rPr>
              <a:t>componentes</a:t>
            </a:r>
            <a:r>
              <a:rPr lang="pt-BR" dirty="0">
                <a:solidFill>
                  <a:srgbClr val="7030A0"/>
                </a:solidFill>
              </a:rPr>
              <a:t> </a:t>
            </a:r>
            <a:r>
              <a:rPr lang="pt-BR" dirty="0"/>
              <a:t>de um diagrama entidade relacionamento, nota-se vários relacionamentos implícitos entre elas.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436" y="4074929"/>
            <a:ext cx="5133126" cy="183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25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5953" y="412146"/>
            <a:ext cx="6608738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Relacionamento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085" y="2060848"/>
            <a:ext cx="9517392" cy="373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1371" y="384437"/>
            <a:ext cx="6761138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Relacionamento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164" y="1844824"/>
            <a:ext cx="7006249" cy="470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9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00426" y="370582"/>
            <a:ext cx="8229720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Grau de 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21372" y="2063761"/>
            <a:ext cx="11748655" cy="3103984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Corresponde ao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número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dirty="0"/>
              <a:t>de diferentes entidades que dele participam.</a:t>
            </a:r>
          </a:p>
          <a:p>
            <a:pPr>
              <a:buClr>
                <a:srgbClr val="00B0F0"/>
              </a:buClr>
            </a:pPr>
            <a:r>
              <a:rPr lang="pt-BR" dirty="0"/>
              <a:t>Relacionamento </a:t>
            </a:r>
            <a:r>
              <a:rPr lang="pt-BR" sz="4400" dirty="0">
                <a:solidFill>
                  <a:srgbClr val="0070C0"/>
                </a:solidFill>
              </a:rPr>
              <a:t>unário</a:t>
            </a:r>
            <a:r>
              <a:rPr lang="pt-BR" dirty="0"/>
              <a:t>: 1 entidade.</a:t>
            </a:r>
          </a:p>
          <a:p>
            <a:pPr>
              <a:buClr>
                <a:srgbClr val="00B0F0"/>
              </a:buClr>
            </a:pPr>
            <a:r>
              <a:rPr lang="pt-BR" dirty="0"/>
              <a:t>Relacionamento </a:t>
            </a:r>
            <a:r>
              <a:rPr lang="pt-BR" sz="4400" dirty="0">
                <a:solidFill>
                  <a:srgbClr val="7030A0"/>
                </a:solidFill>
              </a:rPr>
              <a:t>binário</a:t>
            </a:r>
            <a:r>
              <a:rPr lang="pt-BR" dirty="0"/>
              <a:t>: 2 entidades.</a:t>
            </a:r>
          </a:p>
          <a:p>
            <a:pPr>
              <a:buClr>
                <a:srgbClr val="00B0F0"/>
              </a:buClr>
            </a:pPr>
            <a:r>
              <a:rPr lang="pt-BR" dirty="0"/>
              <a:t>Relacionamento </a:t>
            </a:r>
            <a:r>
              <a:rPr lang="pt-BR" sz="4400" dirty="0">
                <a:solidFill>
                  <a:srgbClr val="00B050"/>
                </a:solidFill>
              </a:rPr>
              <a:t>ternário</a:t>
            </a:r>
            <a:r>
              <a:rPr lang="pt-BR" dirty="0"/>
              <a:t>: 3 entidades.</a:t>
            </a:r>
          </a:p>
        </p:txBody>
      </p:sp>
    </p:spTree>
    <p:extLst>
      <p:ext uri="{BB962C8B-B14F-4D97-AF65-F5344CB8AC3E}">
        <p14:creationId xmlns:p14="http://schemas.microsoft.com/office/powerpoint/2010/main" val="146494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714202"/>
          </a:xfrm>
        </p:spPr>
        <p:txBody>
          <a:bodyPr>
            <a:norm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Grau de Relacionamento  Exemplo Recursivo/Unário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947" y="2742279"/>
            <a:ext cx="9912711" cy="28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79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710" y="1988841"/>
            <a:ext cx="6663604" cy="4857272"/>
          </a:xfrm>
          <a:prstGeom prst="rect">
            <a:avLst/>
          </a:prstGeom>
        </p:spPr>
      </p:pic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714202"/>
          </a:xfrm>
        </p:spPr>
        <p:txBody>
          <a:bodyPr>
            <a:norm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Grau de Relacionamento  Exemplo Recursivo/Unário</a:t>
            </a:r>
          </a:p>
        </p:txBody>
      </p:sp>
    </p:spTree>
    <p:extLst>
      <p:ext uri="{BB962C8B-B14F-4D97-AF65-F5344CB8AC3E}">
        <p14:creationId xmlns:p14="http://schemas.microsoft.com/office/powerpoint/2010/main" val="680394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642194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Grau de Relacionamento  Exemplo Binário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46" y="2476305"/>
            <a:ext cx="10428604" cy="294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82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44" y="2105146"/>
            <a:ext cx="9832756" cy="397699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642194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Grau de Relacionamento  Exemplo Ternário</a:t>
            </a:r>
          </a:p>
        </p:txBody>
      </p:sp>
    </p:spTree>
    <p:extLst>
      <p:ext uri="{BB962C8B-B14F-4D97-AF65-F5344CB8AC3E}">
        <p14:creationId xmlns:p14="http://schemas.microsoft.com/office/powerpoint/2010/main" val="3709025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7310" y="440892"/>
            <a:ext cx="11333018" cy="1498178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Propriedades de um 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2000" y="3030488"/>
            <a:ext cx="10820400" cy="1680057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São representados da mesma </a:t>
            </a:r>
            <a:r>
              <a:rPr lang="pt-BR" sz="4000" dirty="0">
                <a:solidFill>
                  <a:srgbClr val="0070C0"/>
                </a:solidFill>
              </a:rPr>
              <a:t>forma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/>
              <a:t>que nas entidades.</a:t>
            </a:r>
          </a:p>
          <a:p>
            <a:pPr lvl="1">
              <a:buClr>
                <a:srgbClr val="00B0F0"/>
              </a:buClr>
            </a:pPr>
            <a:r>
              <a:rPr lang="pt-BR" dirty="0"/>
              <a:t>Ex: O numero de horas que um funcionário trabalha em um projeto.</a:t>
            </a:r>
          </a:p>
        </p:txBody>
      </p:sp>
    </p:spTree>
    <p:extLst>
      <p:ext uri="{BB962C8B-B14F-4D97-AF65-F5344CB8AC3E}">
        <p14:creationId xmlns:p14="http://schemas.microsoft.com/office/powerpoint/2010/main" val="35450679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63662" y="370582"/>
            <a:ext cx="6470193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Modelo E-R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88" y="2060847"/>
            <a:ext cx="9666813" cy="38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40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02208" y="301309"/>
            <a:ext cx="6955102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2255683"/>
            <a:ext cx="10972440" cy="2731953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3000" dirty="0"/>
              <a:t>Expressa o </a:t>
            </a:r>
            <a:r>
              <a:rPr lang="pt-BR" sz="4000" dirty="0">
                <a:solidFill>
                  <a:schemeClr val="accent6">
                    <a:lumMod val="75000"/>
                  </a:schemeClr>
                </a:solidFill>
              </a:rPr>
              <a:t>número</a:t>
            </a:r>
            <a:r>
              <a:rPr lang="pt-BR" sz="3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000" dirty="0"/>
              <a:t>de entidades às quais </a:t>
            </a:r>
            <a:r>
              <a:rPr lang="pt-BR" sz="4000" dirty="0">
                <a:solidFill>
                  <a:srgbClr val="C00000"/>
                </a:solidFill>
              </a:rPr>
              <a:t>outra</a:t>
            </a:r>
            <a:r>
              <a:rPr lang="pt-BR" sz="3000" dirty="0">
                <a:solidFill>
                  <a:srgbClr val="C00000"/>
                </a:solidFill>
              </a:rPr>
              <a:t> </a:t>
            </a:r>
            <a:r>
              <a:rPr lang="pt-BR" sz="3000" dirty="0"/>
              <a:t>entidade pode estar </a:t>
            </a:r>
            <a:r>
              <a:rPr lang="pt-BR" sz="4000" dirty="0">
                <a:solidFill>
                  <a:srgbClr val="00B050"/>
                </a:solidFill>
              </a:rPr>
              <a:t>associada</a:t>
            </a:r>
            <a:r>
              <a:rPr lang="pt-BR" sz="3000" dirty="0">
                <a:solidFill>
                  <a:srgbClr val="00B050"/>
                </a:solidFill>
              </a:rPr>
              <a:t> </a:t>
            </a:r>
            <a:r>
              <a:rPr lang="pt-BR" sz="3000" dirty="0"/>
              <a:t>via um conjunto de relacionamentos.</a:t>
            </a:r>
          </a:p>
          <a:p>
            <a:pPr>
              <a:buClr>
                <a:srgbClr val="00B0F0"/>
              </a:buClr>
            </a:pPr>
            <a:r>
              <a:rPr lang="pt-BR" sz="3000" dirty="0"/>
              <a:t>Determina o número de </a:t>
            </a:r>
            <a:r>
              <a:rPr lang="pt-BR" sz="4000" dirty="0">
                <a:solidFill>
                  <a:srgbClr val="0070C0"/>
                </a:solidFill>
              </a:rPr>
              <a:t>relacionamentos</a:t>
            </a:r>
            <a:r>
              <a:rPr lang="pt-BR" sz="3000" dirty="0">
                <a:solidFill>
                  <a:srgbClr val="0070C0"/>
                </a:solidFill>
              </a:rPr>
              <a:t> </a:t>
            </a:r>
            <a:r>
              <a:rPr lang="pt-BR" sz="3000" dirty="0"/>
              <a:t>dos quais uma entidade pode </a:t>
            </a:r>
            <a:r>
              <a:rPr lang="pt-BR" sz="4000" dirty="0">
                <a:solidFill>
                  <a:srgbClr val="7030A0"/>
                </a:solidFill>
              </a:rPr>
              <a:t>participar</a:t>
            </a:r>
            <a:r>
              <a:rPr lang="pt-BR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7258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88353" y="315164"/>
            <a:ext cx="5417247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849583"/>
            <a:ext cx="10488011" cy="2583872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sz="3000" dirty="0" err="1"/>
              <a:t>Ex</a:t>
            </a:r>
            <a:r>
              <a:rPr lang="pt-BR" sz="3000" dirty="0"/>
              <a:t>: O relacionamento do tipo </a:t>
            </a:r>
            <a:r>
              <a:rPr lang="pt-BR" sz="4000" dirty="0">
                <a:solidFill>
                  <a:srgbClr val="00B050"/>
                </a:solidFill>
              </a:rPr>
              <a:t>TRABALHA NO</a:t>
            </a:r>
            <a:r>
              <a:rPr lang="pt-BR" sz="3000" dirty="0"/>
              <a:t>, possui cardinalidade </a:t>
            </a:r>
            <a:r>
              <a:rPr lang="pt-BR" sz="4000" dirty="0">
                <a:solidFill>
                  <a:srgbClr val="C00000"/>
                </a:solidFill>
              </a:rPr>
              <a:t>N:1</a:t>
            </a:r>
            <a:r>
              <a:rPr lang="pt-BR" sz="3000" dirty="0"/>
              <a:t>. Significa que </a:t>
            </a:r>
            <a:r>
              <a:rPr lang="pt-BR" sz="4000" dirty="0">
                <a:solidFill>
                  <a:srgbClr val="0070C0"/>
                </a:solidFill>
              </a:rPr>
              <a:t>1</a:t>
            </a:r>
            <a:r>
              <a:rPr lang="pt-BR" sz="3000" dirty="0"/>
              <a:t> departamento emprega </a:t>
            </a:r>
            <a:r>
              <a:rPr lang="pt-BR" sz="4000" dirty="0">
                <a:solidFill>
                  <a:srgbClr val="7030A0"/>
                </a:solidFill>
              </a:rPr>
              <a:t>vários</a:t>
            </a:r>
            <a:r>
              <a:rPr lang="pt-BR" sz="3000" dirty="0">
                <a:solidFill>
                  <a:srgbClr val="7030A0"/>
                </a:solidFill>
              </a:rPr>
              <a:t> </a:t>
            </a:r>
            <a:r>
              <a:rPr lang="pt-BR" sz="3000" dirty="0"/>
              <a:t>funcionários, mas</a:t>
            </a:r>
            <a:r>
              <a:rPr lang="pt-BR" sz="4000" dirty="0">
                <a:solidFill>
                  <a:srgbClr val="C00000"/>
                </a:solidFill>
              </a:rPr>
              <a:t> </a:t>
            </a:r>
            <a:r>
              <a:rPr lang="pt-BR" sz="4000" dirty="0">
                <a:solidFill>
                  <a:srgbClr val="00B0F0"/>
                </a:solidFill>
              </a:rPr>
              <a:t>um</a:t>
            </a:r>
            <a:r>
              <a:rPr lang="pt-BR" sz="3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pt-BR" sz="3000" dirty="0"/>
              <a:t>funcionário </a:t>
            </a:r>
            <a:r>
              <a:rPr lang="pt-BR" sz="4000" dirty="0">
                <a:solidFill>
                  <a:srgbClr val="C00000"/>
                </a:solidFill>
              </a:rPr>
              <a:t>pode</a:t>
            </a:r>
            <a:r>
              <a:rPr lang="pt-BR" sz="3000" dirty="0"/>
              <a:t> trabalhar em um </a:t>
            </a:r>
            <a:r>
              <a:rPr lang="pt-BR" sz="4000" dirty="0">
                <a:solidFill>
                  <a:srgbClr val="FFC000"/>
                </a:solidFill>
              </a:rPr>
              <a:t>único</a:t>
            </a:r>
            <a:r>
              <a:rPr lang="pt-BR" sz="3000" dirty="0">
                <a:solidFill>
                  <a:srgbClr val="FFC000"/>
                </a:solidFill>
              </a:rPr>
              <a:t> </a:t>
            </a:r>
            <a:r>
              <a:rPr lang="pt-BR" sz="3000" dirty="0"/>
              <a:t>departamento.</a:t>
            </a:r>
          </a:p>
        </p:txBody>
      </p:sp>
    </p:spTree>
    <p:extLst>
      <p:ext uri="{BB962C8B-B14F-4D97-AF65-F5344CB8AC3E}">
        <p14:creationId xmlns:p14="http://schemas.microsoft.com/office/powerpoint/2010/main" val="2873778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84678" y="266550"/>
            <a:ext cx="8950156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Um para Um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94155" y="2184018"/>
            <a:ext cx="4186808" cy="1903074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Uma entidade em </a:t>
            </a:r>
            <a:r>
              <a:rPr lang="pt-BR" dirty="0">
                <a:solidFill>
                  <a:srgbClr val="FF0000"/>
                </a:solidFill>
              </a:rPr>
              <a:t>A</a:t>
            </a:r>
            <a:r>
              <a:rPr lang="pt-BR" dirty="0"/>
              <a:t> está associada no máximo a uma entidade em </a:t>
            </a:r>
            <a:r>
              <a:rPr lang="pt-BR" dirty="0">
                <a:solidFill>
                  <a:srgbClr val="FF0000"/>
                </a:solidFill>
              </a:rPr>
              <a:t>B</a:t>
            </a:r>
            <a:r>
              <a:rPr lang="pt-BR" dirty="0"/>
              <a:t>, e vice-versa.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9" y="1411350"/>
            <a:ext cx="3506785" cy="42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50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26689" y="329018"/>
            <a:ext cx="9056586" cy="1144800"/>
          </a:xfrm>
        </p:spPr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Um para Um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89" y="1988839"/>
            <a:ext cx="8339377" cy="412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88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786210"/>
          </a:xfrm>
        </p:spPr>
        <p:txBody>
          <a:bodyPr>
            <a:norm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Um para Um Exemplo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09" y="4335413"/>
            <a:ext cx="8773814" cy="148349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28" y="2357198"/>
            <a:ext cx="8795734" cy="182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50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3939" y="413183"/>
            <a:ext cx="9989127" cy="1642194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Um para Muitos /</a:t>
            </a:r>
            <a:b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</a:br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 Muitos para Um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68503" y="2816168"/>
            <a:ext cx="5494005" cy="1825106"/>
          </a:xfrm>
        </p:spPr>
        <p:txBody>
          <a:bodyPr/>
          <a:lstStyle/>
          <a:p>
            <a:pPr>
              <a:buClr>
                <a:srgbClr val="00B0F0"/>
              </a:buClr>
            </a:pP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A</a:t>
            </a:r>
            <a:r>
              <a:rPr lang="pt-BR" dirty="0"/>
              <a:t> está associada a várias entidades de </a:t>
            </a:r>
            <a:r>
              <a:rPr lang="pt-BR" dirty="0">
                <a:solidFill>
                  <a:srgbClr val="FF0000"/>
                </a:solidFill>
              </a:rPr>
              <a:t>B</a:t>
            </a:r>
            <a:r>
              <a:rPr lang="pt-BR" dirty="0"/>
              <a:t>. Já uma entidade de </a:t>
            </a:r>
            <a:r>
              <a:rPr lang="pt-BR" dirty="0">
                <a:solidFill>
                  <a:srgbClr val="FF0000"/>
                </a:solidFill>
              </a:rPr>
              <a:t>B</a:t>
            </a:r>
            <a:r>
              <a:rPr lang="pt-BR" dirty="0"/>
              <a:t> está associada no máximo a uma entidade em </a:t>
            </a:r>
            <a:r>
              <a:rPr lang="pt-BR" dirty="0">
                <a:solidFill>
                  <a:srgbClr val="FF0000"/>
                </a:solidFill>
              </a:rPr>
              <a:t>A</a:t>
            </a:r>
            <a:r>
              <a:rPr lang="pt-BR" dirty="0"/>
              <a:t>.</a:t>
            </a:r>
          </a:p>
          <a:p>
            <a:pPr marL="0" indent="0">
              <a:buClr>
                <a:srgbClr val="00B0F0"/>
              </a:buClr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2182341"/>
            <a:ext cx="3240360" cy="389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774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7855" y="274638"/>
            <a:ext cx="10127671" cy="1549573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Um para Muitos / Muitos para Um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855" y="1824211"/>
            <a:ext cx="7725326" cy="454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34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199" y="274638"/>
            <a:ext cx="9573491" cy="1642194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Um para Muitos Exemplo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66" y="2789313"/>
            <a:ext cx="9261544" cy="204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0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30036" y="274638"/>
            <a:ext cx="10252364" cy="1426170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Muitos para Muitos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2041" y="2705512"/>
            <a:ext cx="5004953" cy="2129725"/>
          </a:xfrm>
        </p:spPr>
        <p:txBody>
          <a:bodyPr>
            <a:normAutofit/>
          </a:bodyPr>
          <a:lstStyle/>
          <a:p>
            <a:pPr>
              <a:buClr>
                <a:srgbClr val="00B0F0"/>
              </a:buClr>
            </a:pPr>
            <a:r>
              <a:rPr lang="pt-BR" dirty="0"/>
              <a:t>Uma entidade em </a:t>
            </a:r>
            <a:r>
              <a:rPr lang="pt-BR" dirty="0">
                <a:solidFill>
                  <a:srgbClr val="FF0000"/>
                </a:solidFill>
              </a:rPr>
              <a:t>A</a:t>
            </a:r>
            <a:r>
              <a:rPr lang="pt-BR" dirty="0"/>
              <a:t> está associada a várias entidades em </a:t>
            </a:r>
            <a:r>
              <a:rPr lang="pt-BR" dirty="0">
                <a:solidFill>
                  <a:srgbClr val="FF0000"/>
                </a:solidFill>
              </a:rPr>
              <a:t>B</a:t>
            </a:r>
            <a:r>
              <a:rPr lang="pt-BR" dirty="0"/>
              <a:t>; e uma entidade em </a:t>
            </a:r>
            <a:r>
              <a:rPr lang="pt-BR" dirty="0">
                <a:solidFill>
                  <a:srgbClr val="FF0000"/>
                </a:solidFill>
              </a:rPr>
              <a:t>B</a:t>
            </a:r>
            <a:r>
              <a:rPr lang="pt-BR" dirty="0"/>
              <a:t> está associada a várias entidades em </a:t>
            </a:r>
            <a:r>
              <a:rPr lang="pt-BR" dirty="0">
                <a:solidFill>
                  <a:srgbClr val="FF0000"/>
                </a:solidFill>
              </a:rPr>
              <a:t>A</a:t>
            </a:r>
            <a:r>
              <a:rPr lang="pt-BR" dirty="0"/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768" y="1700808"/>
            <a:ext cx="3178696" cy="371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886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11382" y="343911"/>
            <a:ext cx="10598727" cy="1498178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Muitos para Muitos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382" y="2060849"/>
            <a:ext cx="6661774" cy="443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625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53636" y="347536"/>
            <a:ext cx="10507547" cy="1642194"/>
          </a:xfrm>
        </p:spPr>
        <p:txBody>
          <a:bodyPr>
            <a:noAutofit/>
          </a:bodyPr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Cardinalidade Muitos para Muitos Exemplo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36" y="4005063"/>
            <a:ext cx="9226097" cy="1703009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35" y="2108044"/>
            <a:ext cx="9633636" cy="166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60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2510" y="1946563"/>
            <a:ext cx="11720945" cy="3816927"/>
          </a:xfrm>
        </p:spPr>
        <p:txBody>
          <a:bodyPr>
            <a:noAutofit/>
          </a:bodyPr>
          <a:lstStyle/>
          <a:p>
            <a:pPr>
              <a:buClr>
                <a:srgbClr val="00B0F0"/>
              </a:buClr>
            </a:pPr>
            <a:r>
              <a:rPr lang="pt-BR" sz="1900" dirty="0"/>
              <a:t>1 - Crie uma entidade com o nome motorista, e outra com o nome veículo.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2 - A entidade motorista deve possuir os seguintes atributos, nome do motorista, categoria da carteira de motorista, número da carteira de motorista e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3 - A entidade veículo deve possuir os seguintes atributos, nome do veículo, marca, modelo, placa, ano de fabricação.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4 - Determinar o atributo chave de cada entidade.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5 - Determinar o relacionamento entre as entidades e o tipo(unário, binário ou ternário).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6 - Determinar a cardinalidade entre as entidades.</a:t>
            </a:r>
          </a:p>
        </p:txBody>
      </p:sp>
    </p:spTree>
    <p:extLst>
      <p:ext uri="{BB962C8B-B14F-4D97-AF65-F5344CB8AC3E}">
        <p14:creationId xmlns:p14="http://schemas.microsoft.com/office/powerpoint/2010/main" val="2745265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8BCD25E-05E5-45F2-91DF-CEE52DDDB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</a:t>
            </a:r>
            <a:r>
              <a:rPr lang="pt-BR" dirty="0" err="1"/>
              <a:t>Brmodelo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A677B9F-E5F1-4176-A150-3B275FC3D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04" y="2493823"/>
            <a:ext cx="8597865" cy="27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86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2510" y="1946563"/>
            <a:ext cx="11720945" cy="3816927"/>
          </a:xfrm>
        </p:spPr>
        <p:txBody>
          <a:bodyPr>
            <a:noAutofit/>
          </a:bodyPr>
          <a:lstStyle/>
          <a:p>
            <a:pPr>
              <a:buClr>
                <a:srgbClr val="00B0F0"/>
              </a:buClr>
            </a:pPr>
            <a:r>
              <a:rPr lang="pt-BR" sz="1900" dirty="0"/>
              <a:t>Outra forma de solicitar as informações: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1 – Uma empresa do seguimento de transportes (</a:t>
            </a:r>
            <a:r>
              <a:rPr lang="pt-BR" sz="1900" dirty="0" err="1"/>
              <a:t>TchêUber</a:t>
            </a:r>
            <a:r>
              <a:rPr lang="pt-BR" sz="1900" dirty="0"/>
              <a:t>), necessita de um sistema, para registro de seus  motoristas e seus veículos.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2 – Os dados necessários do motorista são: nome do motorista, categoria da carteira do motorista, número da carteira do motorista e número do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3 – Os dados necessários dos veículos são: nome do veículo, marca, modelo, placa, ano de fabricação.</a:t>
            </a:r>
          </a:p>
        </p:txBody>
      </p:sp>
    </p:spTree>
    <p:extLst>
      <p:ext uri="{BB962C8B-B14F-4D97-AF65-F5344CB8AC3E}">
        <p14:creationId xmlns:p14="http://schemas.microsoft.com/office/powerpoint/2010/main" val="13312699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8BCD25E-05E5-45F2-91DF-CEE52DDDB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</a:t>
            </a:r>
            <a:r>
              <a:rPr lang="pt-BR" dirty="0" err="1"/>
              <a:t>Brmodelo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A677B9F-E5F1-4176-A150-3B275FC3D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04" y="2493823"/>
            <a:ext cx="8597865" cy="27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469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2510" y="1946563"/>
            <a:ext cx="11720945" cy="3816927"/>
          </a:xfrm>
        </p:spPr>
        <p:txBody>
          <a:bodyPr>
            <a:noAutofit/>
          </a:bodyPr>
          <a:lstStyle/>
          <a:p>
            <a:pPr>
              <a:buClr>
                <a:srgbClr val="00B0F0"/>
              </a:buClr>
            </a:pPr>
            <a:r>
              <a:rPr lang="pt-BR" sz="1900" dirty="0"/>
              <a:t>1 – Uma empresa do seguimento de transportes (</a:t>
            </a:r>
            <a:r>
              <a:rPr lang="pt-BR" sz="1900" dirty="0" err="1"/>
              <a:t>TchêUber</a:t>
            </a:r>
            <a:r>
              <a:rPr lang="pt-BR" sz="1900" dirty="0"/>
              <a:t>), necessita de um sistema, para registro de seus  motoristas, seus veículos, mecânicos e solicitações de serviços mecânicos.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2 – Os dados necessários do motorista são: nome do motorista, categoria da carteira do motorista, número da carteira do motorista e número do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3 – Os dados necessários dos veículos são: nome do veículo, marca, modelo, placa, ano de fabricação.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4 – Os dados necessários do mecânico são: nome, CPF e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5 – O motorista pode solicitar serviço mecânico quando necessário.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6 – O serviço, deve registrar o número da ordem de serviço, data da solicitação, nome do veículo, nome do motorista, placa do veículo e descrição do problema.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Utilizar o software </a:t>
            </a:r>
            <a:r>
              <a:rPr lang="pt-BR" sz="1900" dirty="0" err="1"/>
              <a:t>BRmodelo</a:t>
            </a:r>
            <a:endParaRPr lang="pt-BR" sz="1900" dirty="0"/>
          </a:p>
        </p:txBody>
      </p:sp>
    </p:spTree>
    <p:extLst>
      <p:ext uri="{BB962C8B-B14F-4D97-AF65-F5344CB8AC3E}">
        <p14:creationId xmlns:p14="http://schemas.microsoft.com/office/powerpoint/2010/main" val="30135175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5C997E0-C553-49AF-8C57-56BD06E2B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BF3237-AEE5-4EEA-A3E7-59E8080FB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94" y="1842866"/>
            <a:ext cx="7421011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53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</TotalTime>
  <Words>986</Words>
  <Application>Microsoft Office PowerPoint</Application>
  <PresentationFormat>Widescreen</PresentationFormat>
  <Paragraphs>122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Symbol</vt:lpstr>
      <vt:lpstr>Wingdings</vt:lpstr>
      <vt:lpstr>Office Theme</vt:lpstr>
      <vt:lpstr>Office Theme</vt:lpstr>
      <vt:lpstr>Apresentação do PowerPoint</vt:lpstr>
      <vt:lpstr>Objetivos</vt:lpstr>
      <vt:lpstr>Anteriormente</vt:lpstr>
      <vt:lpstr>Diagrama Conceitual – E-R</vt:lpstr>
      <vt:lpstr>Modelo E-R</vt:lpstr>
      <vt:lpstr>Modelo E-R</vt:lpstr>
      <vt:lpstr>Modelo E-R</vt:lpstr>
      <vt:lpstr>Atributo Simples</vt:lpstr>
      <vt:lpstr>Modelo E-R</vt:lpstr>
      <vt:lpstr>Atributo Composto</vt:lpstr>
      <vt:lpstr>Modelo E-R</vt:lpstr>
      <vt:lpstr>Atributo Multivalorado </vt:lpstr>
      <vt:lpstr>Modelo E-R</vt:lpstr>
      <vt:lpstr>Modelo E-R</vt:lpstr>
      <vt:lpstr>Atributo Derivado</vt:lpstr>
      <vt:lpstr>Modelo E-R</vt:lpstr>
      <vt:lpstr>Modelo E-R</vt:lpstr>
      <vt:lpstr>Relacionamento</vt:lpstr>
      <vt:lpstr>Relacionamento</vt:lpstr>
      <vt:lpstr>Relacionamento</vt:lpstr>
      <vt:lpstr>Relacionamento</vt:lpstr>
      <vt:lpstr>Grau de Relacionamento</vt:lpstr>
      <vt:lpstr>Grau de Relacionamento  Exemplo Recursivo/Unário</vt:lpstr>
      <vt:lpstr>Grau de Relacionamento  Exemplo Recursivo/Unário</vt:lpstr>
      <vt:lpstr>Grau de Relacionamento  Exemplo Binário</vt:lpstr>
      <vt:lpstr>Grau de Relacionamento  Exemplo Ternário</vt:lpstr>
      <vt:lpstr>Propriedades de um Relacionamento</vt:lpstr>
      <vt:lpstr>Modelo E-R</vt:lpstr>
      <vt:lpstr>Cardinalidade</vt:lpstr>
      <vt:lpstr>Cardinalidade</vt:lpstr>
      <vt:lpstr>Cardinalidade Um para Um</vt:lpstr>
      <vt:lpstr>Cardinalidade Um para Um</vt:lpstr>
      <vt:lpstr>Cardinalidade Um para Um Exemplo</vt:lpstr>
      <vt:lpstr>Cardinalidade Um para Muitos /  Muitos para Um</vt:lpstr>
      <vt:lpstr>Cardinalidade Um para Muitos / Muitos para Um</vt:lpstr>
      <vt:lpstr>Cardinalidade Um para Muitos Exemplo</vt:lpstr>
      <vt:lpstr>Cardinalidade Muitos para Muitos</vt:lpstr>
      <vt:lpstr>Cardinalidade Muitos para Muitos</vt:lpstr>
      <vt:lpstr>Cardinalidade Muitos para Muitos Exemplo</vt:lpstr>
      <vt:lpstr>Hora da atividade :)          Empresa TchêUber</vt:lpstr>
      <vt:lpstr>Hora da atividade :)          Empresa TchêUber</vt:lpstr>
      <vt:lpstr>Hora da atividade :)          Empresa TchêUber</vt:lpstr>
      <vt:lpstr>Hora da atividade :)          Empresa TchêUber</vt:lpstr>
      <vt:lpstr>Hora da atividade :)          Empresa TchêUber</vt:lpstr>
      <vt:lpstr>Hora da atividade :)          Empresa TchêUber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MIGUEL ANGELO MATIOLLA</cp:lastModifiedBy>
  <cp:revision>54</cp:revision>
  <dcterms:created xsi:type="dcterms:W3CDTF">2019-04-01T17:03:04Z</dcterms:created>
  <dcterms:modified xsi:type="dcterms:W3CDTF">2025-06-16T14:16:30Z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