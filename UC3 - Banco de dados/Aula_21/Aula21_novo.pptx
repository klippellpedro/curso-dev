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332" r:id="rId3"/>
    <p:sldId id="333" r:id="rId4"/>
    <p:sldId id="300" r:id="rId5"/>
    <p:sldId id="301" r:id="rId6"/>
    <p:sldId id="302" r:id="rId7"/>
    <p:sldId id="303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38" r:id="rId17"/>
    <p:sldId id="325" r:id="rId18"/>
    <p:sldId id="326" r:id="rId19"/>
    <p:sldId id="327" r:id="rId20"/>
    <p:sldId id="328" r:id="rId21"/>
    <p:sldId id="329" r:id="rId22"/>
    <p:sldId id="350" r:id="rId23"/>
    <p:sldId id="351" r:id="rId24"/>
    <p:sldId id="356" r:id="rId25"/>
    <p:sldId id="352" r:id="rId26"/>
    <p:sldId id="353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30" r:id="rId43"/>
    <p:sldId id="331" r:id="rId44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19/02/2024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2779881" y="5260240"/>
            <a:ext cx="61926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– Aula 21</a:t>
            </a:r>
          </a:p>
          <a:p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78412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Chave Estrangeira ( FK 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65104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A chave estrangeira é um </a:t>
            </a:r>
            <a:r>
              <a:rPr lang="pt-BR" sz="4000" dirty="0">
                <a:solidFill>
                  <a:srgbClr val="00B050"/>
                </a:solidFill>
              </a:rPr>
              <a:t>atributo</a:t>
            </a:r>
            <a:r>
              <a:rPr lang="pt-BR" sz="3000" dirty="0">
                <a:solidFill>
                  <a:srgbClr val="00B050"/>
                </a:solidFill>
              </a:rPr>
              <a:t> </a:t>
            </a:r>
            <a:r>
              <a:rPr lang="pt-BR" sz="3000" dirty="0"/>
              <a:t>que se </a:t>
            </a:r>
            <a:r>
              <a:rPr lang="pt-BR" sz="4000" dirty="0">
                <a:solidFill>
                  <a:srgbClr val="7030A0"/>
                </a:solidFill>
              </a:rPr>
              <a:t>relaciona</a:t>
            </a:r>
            <a:r>
              <a:rPr lang="pt-BR" sz="3000" dirty="0">
                <a:solidFill>
                  <a:srgbClr val="7030A0"/>
                </a:solidFill>
              </a:rPr>
              <a:t> </a:t>
            </a:r>
            <a:r>
              <a:rPr lang="pt-BR" sz="3000" dirty="0"/>
              <a:t>com </a:t>
            </a:r>
            <a:r>
              <a:rPr lang="pt-BR" sz="4000" dirty="0">
                <a:solidFill>
                  <a:srgbClr val="FFC000"/>
                </a:solidFill>
              </a:rPr>
              <a:t>outra</a:t>
            </a:r>
            <a:r>
              <a:rPr lang="pt-BR" sz="3000" dirty="0">
                <a:solidFill>
                  <a:srgbClr val="FFC000"/>
                </a:solidFill>
              </a:rPr>
              <a:t> </a:t>
            </a:r>
            <a:r>
              <a:rPr lang="pt-BR" sz="3000" dirty="0"/>
              <a:t>tabela, ocorre quando um atributo de uma relação for </a:t>
            </a:r>
            <a:r>
              <a:rPr lang="pt-BR" sz="4000" dirty="0">
                <a:solidFill>
                  <a:srgbClr val="00B0F0"/>
                </a:solidFill>
              </a:rPr>
              <a:t>chave primária </a:t>
            </a:r>
            <a:r>
              <a:rPr lang="pt-BR" sz="3000" dirty="0"/>
              <a:t>em outra relação. Sempre que houver o relacionamento </a:t>
            </a:r>
            <a:r>
              <a:rPr lang="pt-BR" sz="4000" dirty="0">
                <a:solidFill>
                  <a:srgbClr val="C00000"/>
                </a:solidFill>
              </a:rPr>
              <a:t>1:N</a:t>
            </a:r>
            <a:r>
              <a:rPr lang="pt-BR" sz="3000" dirty="0"/>
              <a:t> entre duas tabelas, a tabela </a:t>
            </a:r>
            <a:r>
              <a:rPr lang="pt-BR" sz="4000" dirty="0">
                <a:solidFill>
                  <a:srgbClr val="C00000"/>
                </a:solidFill>
              </a:rPr>
              <a:t>1</a:t>
            </a:r>
            <a:r>
              <a:rPr lang="pt-BR" sz="3000" dirty="0"/>
              <a:t> tem a chave primária e a tabela </a:t>
            </a:r>
            <a:r>
              <a:rPr lang="pt-BR" sz="4000" dirty="0">
                <a:solidFill>
                  <a:srgbClr val="C00000"/>
                </a:solidFill>
              </a:rPr>
              <a:t>N</a:t>
            </a:r>
            <a:r>
              <a:rPr lang="pt-BR" sz="3000" dirty="0"/>
              <a:t>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receberá</a:t>
            </a:r>
            <a:r>
              <a:rPr lang="pt-BR" sz="3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000" dirty="0"/>
              <a:t>a chave estrangeira. </a:t>
            </a:r>
          </a:p>
        </p:txBody>
      </p:sp>
    </p:spTree>
    <p:extLst>
      <p:ext uri="{BB962C8B-B14F-4D97-AF65-F5344CB8AC3E}">
        <p14:creationId xmlns:p14="http://schemas.microsoft.com/office/powerpoint/2010/main" val="309786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Chave Estrangeira ( FK 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989039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Uma chave estrangeira é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sempre</a:t>
            </a:r>
            <a:r>
              <a:rPr lang="pt-BR" sz="3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000" dirty="0"/>
              <a:t>baseada em um valor </a:t>
            </a:r>
            <a:r>
              <a:rPr lang="pt-BR" sz="4000" dirty="0">
                <a:solidFill>
                  <a:srgbClr val="00B0F0"/>
                </a:solidFill>
              </a:rPr>
              <a:t>único</a:t>
            </a:r>
            <a:r>
              <a:rPr lang="pt-BR" sz="3000" dirty="0">
                <a:solidFill>
                  <a:srgbClr val="00B0F0"/>
                </a:solidFill>
              </a:rPr>
              <a:t> </a:t>
            </a:r>
            <a:r>
              <a:rPr lang="pt-BR" sz="3000" dirty="0"/>
              <a:t>da entidade </a:t>
            </a:r>
            <a:r>
              <a:rPr lang="pt-BR" sz="4000" dirty="0">
                <a:solidFill>
                  <a:srgbClr val="00B050"/>
                </a:solidFill>
              </a:rPr>
              <a:t>referenciada</a:t>
            </a:r>
            <a:r>
              <a:rPr lang="pt-BR" sz="3000" dirty="0"/>
              <a:t>, normalmente a chave primária. A definição de uma chave estrangeira (</a:t>
            </a:r>
            <a:r>
              <a:rPr lang="pt-BR" sz="4000" b="1" dirty="0">
                <a:solidFill>
                  <a:srgbClr val="C00000"/>
                </a:solidFill>
              </a:rPr>
              <a:t>FOREIGN KEY</a:t>
            </a:r>
            <a:r>
              <a:rPr lang="pt-BR" sz="3000" dirty="0"/>
              <a:t>) pode ser feita na </a:t>
            </a:r>
            <a:r>
              <a:rPr lang="pt-BR" sz="4000" dirty="0">
                <a:solidFill>
                  <a:srgbClr val="0070C0"/>
                </a:solidFill>
              </a:rPr>
              <a:t>criação</a:t>
            </a:r>
            <a:r>
              <a:rPr lang="pt-BR" sz="3000" dirty="0">
                <a:solidFill>
                  <a:srgbClr val="0070C0"/>
                </a:solidFill>
              </a:rPr>
              <a:t> </a:t>
            </a:r>
            <a:r>
              <a:rPr lang="pt-BR" sz="3000" dirty="0"/>
              <a:t>ou na </a:t>
            </a:r>
            <a:r>
              <a:rPr lang="pt-BR" sz="4000" dirty="0">
                <a:solidFill>
                  <a:srgbClr val="FFC000"/>
                </a:solidFill>
              </a:rPr>
              <a:t>alteração</a:t>
            </a:r>
            <a:r>
              <a:rPr lang="pt-BR" sz="3000" dirty="0">
                <a:solidFill>
                  <a:srgbClr val="FFC000"/>
                </a:solidFill>
              </a:rPr>
              <a:t> </a:t>
            </a:r>
            <a:r>
              <a:rPr lang="pt-BR" sz="3000" dirty="0"/>
              <a:t>da tabela. </a:t>
            </a:r>
          </a:p>
        </p:txBody>
      </p:sp>
    </p:spTree>
    <p:extLst>
      <p:ext uri="{BB962C8B-B14F-4D97-AF65-F5344CB8AC3E}">
        <p14:creationId xmlns:p14="http://schemas.microsoft.com/office/powerpoint/2010/main" val="221766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Chave Estrangeira ( FK 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676671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Na criação da tabela use a sintaxe: </a:t>
            </a:r>
          </a:p>
        </p:txBody>
      </p:sp>
      <p:sp>
        <p:nvSpPr>
          <p:cNvPr id="5" name="Retângulo 4"/>
          <p:cNvSpPr/>
          <p:nvPr/>
        </p:nvSpPr>
        <p:spPr>
          <a:xfrm>
            <a:off x="2207568" y="2690336"/>
            <a:ext cx="80032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CREATE TABLE 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&lt;nome_tabela&gt; ( </a:t>
            </a:r>
          </a:p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&lt;campo&gt; &lt;tipo&gt;, </a:t>
            </a:r>
          </a:p>
          <a:p>
            <a:r>
              <a:rPr lang="pt-BR" sz="30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FOREIGN KEY 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(&lt;campo&gt;) </a:t>
            </a:r>
            <a:r>
              <a:rPr lang="pt-BR" sz="30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REFERENCES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&lt;</a:t>
            </a:r>
            <a:r>
              <a:rPr lang="pt-B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outra_tabela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&gt; (&lt;</a:t>
            </a:r>
            <a:r>
              <a:rPr lang="pt-B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campo_outratabela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&gt;)); </a:t>
            </a:r>
          </a:p>
        </p:txBody>
      </p:sp>
    </p:spTree>
    <p:extLst>
      <p:ext uri="{BB962C8B-B14F-4D97-AF65-F5344CB8AC3E}">
        <p14:creationId xmlns:p14="http://schemas.microsoft.com/office/powerpoint/2010/main" val="281077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Chave Estrangeira ( FK 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748679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Na alteração da tabela use a sintaxe: </a:t>
            </a:r>
          </a:p>
        </p:txBody>
      </p:sp>
      <p:sp>
        <p:nvSpPr>
          <p:cNvPr id="5" name="Retângulo 4"/>
          <p:cNvSpPr/>
          <p:nvPr/>
        </p:nvSpPr>
        <p:spPr>
          <a:xfrm>
            <a:off x="2351584" y="2828836"/>
            <a:ext cx="78592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ALTER TABLE 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&lt;nome_tabela&gt; </a:t>
            </a:r>
            <a:r>
              <a:rPr lang="pt-BR" sz="30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ADD FOREIGN KEY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(&lt;campo&gt;) </a:t>
            </a:r>
            <a:r>
              <a:rPr lang="pt-BR" sz="30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REFERENCES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&lt;</a:t>
            </a:r>
            <a:r>
              <a:rPr lang="pt-B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outra_tabela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&gt; (&lt;</a:t>
            </a:r>
            <a:r>
              <a:rPr lang="pt-B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campo_outratabela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&gt;); </a:t>
            </a:r>
          </a:p>
        </p:txBody>
      </p:sp>
    </p:spTree>
    <p:extLst>
      <p:ext uri="{BB962C8B-B14F-4D97-AF65-F5344CB8AC3E}">
        <p14:creationId xmlns:p14="http://schemas.microsoft.com/office/powerpoint/2010/main" val="378186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Chave Estrangeira ( FK 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489040"/>
            <a:ext cx="8229600" cy="1468759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Exemplo: No sistema da biblioteca a tabela livro possui referência às tabelas gênero, editora e autor. </a:t>
            </a:r>
          </a:p>
        </p:txBody>
      </p:sp>
    </p:spTree>
    <p:extLst>
      <p:ext uri="{BB962C8B-B14F-4D97-AF65-F5344CB8AC3E}">
        <p14:creationId xmlns:p14="http://schemas.microsoft.com/office/powerpoint/2010/main" val="39086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9158654" cy="1426170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04865"/>
            <a:ext cx="8075240" cy="3096343"/>
          </a:xfrm>
        </p:spPr>
        <p:txBody>
          <a:bodyPr>
            <a:normAutofit lnSpcReduction="10000"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No sistema de biblioteca são cadastrados os </a:t>
            </a:r>
            <a:r>
              <a:rPr lang="pt-BR" sz="4000" dirty="0">
                <a:solidFill>
                  <a:srgbClr val="002060"/>
                </a:solidFill>
              </a:rPr>
              <a:t>livros</a:t>
            </a:r>
            <a:r>
              <a:rPr lang="pt-BR" sz="3000" dirty="0">
                <a:solidFill>
                  <a:srgbClr val="002060"/>
                </a:solidFill>
              </a:rPr>
              <a:t> </a:t>
            </a:r>
            <a:r>
              <a:rPr lang="pt-BR" sz="3000" dirty="0"/>
              <a:t>que são </a:t>
            </a:r>
            <a:r>
              <a:rPr lang="pt-BR" sz="4000" dirty="0">
                <a:solidFill>
                  <a:srgbClr val="FFC000"/>
                </a:solidFill>
              </a:rPr>
              <a:t>emprestados</a:t>
            </a:r>
            <a:r>
              <a:rPr lang="pt-BR" sz="3000" dirty="0">
                <a:solidFill>
                  <a:srgbClr val="FFC000"/>
                </a:solidFill>
              </a:rPr>
              <a:t> </a:t>
            </a:r>
            <a:r>
              <a:rPr lang="pt-BR" sz="3000" dirty="0"/>
              <a:t>para os </a:t>
            </a:r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alunos</a:t>
            </a:r>
            <a:r>
              <a:rPr lang="pt-BR" sz="3000" dirty="0"/>
              <a:t>. Os livros possuem somente um </a:t>
            </a:r>
            <a:r>
              <a:rPr lang="pt-BR" sz="4000" dirty="0">
                <a:solidFill>
                  <a:srgbClr val="00B050"/>
                </a:solidFill>
              </a:rPr>
              <a:t>autor</a:t>
            </a:r>
            <a:r>
              <a:rPr lang="pt-BR" sz="3000" dirty="0">
                <a:solidFill>
                  <a:srgbClr val="00B050"/>
                </a:solidFill>
              </a:rPr>
              <a:t> </a:t>
            </a:r>
            <a:r>
              <a:rPr lang="pt-BR" sz="3000" dirty="0"/>
              <a:t>principal cadastrado para fins de estudo de caso,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gênero</a:t>
            </a:r>
            <a:r>
              <a:rPr lang="pt-BR" sz="3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000" dirty="0"/>
              <a:t>do </a:t>
            </a:r>
            <a:r>
              <a:rPr lang="pt-BR" sz="4300" dirty="0">
                <a:solidFill>
                  <a:srgbClr val="7030A0"/>
                </a:solidFill>
              </a:rPr>
              <a:t>livro</a:t>
            </a:r>
            <a:r>
              <a:rPr lang="pt-BR" sz="3000" dirty="0"/>
              <a:t> e a </a:t>
            </a:r>
            <a:r>
              <a:rPr lang="pt-BR" sz="4300" dirty="0">
                <a:solidFill>
                  <a:srgbClr val="0070C0"/>
                </a:solidFill>
              </a:rPr>
              <a:t>editora</a:t>
            </a:r>
            <a:r>
              <a:rPr lang="pt-BR" sz="3000" dirty="0">
                <a:solidFill>
                  <a:srgbClr val="0070C0"/>
                </a:solidFill>
              </a:rPr>
              <a:t> </a:t>
            </a:r>
            <a:r>
              <a:rPr lang="pt-BR" sz="3000" dirty="0"/>
              <a:t>que o publicou.  </a:t>
            </a:r>
          </a:p>
        </p:txBody>
      </p:sp>
    </p:spTree>
    <p:extLst>
      <p:ext uri="{BB962C8B-B14F-4D97-AF65-F5344CB8AC3E}">
        <p14:creationId xmlns:p14="http://schemas.microsoft.com/office/powerpoint/2010/main" val="390331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65031" y="274638"/>
            <a:ext cx="8645769" cy="1426170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do Banco de Dados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1988841"/>
            <a:ext cx="8053272" cy="34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6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10788162" cy="1426170"/>
          </a:xfrm>
        </p:spPr>
        <p:txBody>
          <a:bodyPr>
            <a:noAutofit/>
          </a:bodyPr>
          <a:lstStyle/>
          <a:p>
            <a:pPr algn="ctr"/>
            <a:r>
              <a:rPr lang="pt-BR" sz="54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Relacional do Exemplo do Banco de Dados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2135560" y="2348880"/>
            <a:ext cx="76431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Tabela que armazena os dados dos alunos: </a:t>
            </a:r>
          </a:p>
        </p:txBody>
      </p:sp>
    </p:spTree>
    <p:extLst>
      <p:ext uri="{BB962C8B-B14F-4D97-AF65-F5344CB8AC3E}">
        <p14:creationId xmlns:p14="http://schemas.microsoft.com/office/powerpoint/2010/main" val="66598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953840" y="2630508"/>
            <a:ext cx="70567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Aluno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matricula, nome, fone, endereço, 	    sexo, CPF, email</a:t>
            </a:r>
          </a:p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 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</a:p>
        </p:txBody>
      </p:sp>
      <p:sp>
        <p:nvSpPr>
          <p:cNvPr id="7" name="Retângulo 6"/>
          <p:cNvSpPr/>
          <p:nvPr/>
        </p:nvSpPr>
        <p:spPr>
          <a:xfrm>
            <a:off x="2953840" y="5284564"/>
            <a:ext cx="62843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Editora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codigo_editora, nome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2040850" y="1822758"/>
            <a:ext cx="8435280" cy="864096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Tabela que armazena os dados dos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alunos</a:t>
            </a:r>
            <a:r>
              <a:rPr lang="pt-BR" sz="3000" dirty="0"/>
              <a:t>:  </a:t>
            </a:r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2040850" y="4323683"/>
            <a:ext cx="843528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SzPct val="60000"/>
              <a:buFontTx/>
              <a:buBlip>
                <a:blip r:embed="rId2"/>
              </a:buBlip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</a:pPr>
            <a:r>
              <a:rPr lang="pt-BR" sz="3000" dirty="0"/>
              <a:t>Tabela que armazena as editoras dos </a:t>
            </a:r>
            <a:r>
              <a:rPr lang="pt-BR" sz="4000" dirty="0">
                <a:solidFill>
                  <a:srgbClr val="7030A0"/>
                </a:solidFill>
              </a:rPr>
              <a:t>livros</a:t>
            </a:r>
            <a:r>
              <a:rPr lang="pt-BR" sz="3000" dirty="0"/>
              <a:t>: </a:t>
            </a: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10788162" cy="1426170"/>
          </a:xfrm>
        </p:spPr>
        <p:txBody>
          <a:bodyPr>
            <a:noAutofit/>
          </a:bodyPr>
          <a:lstStyle/>
          <a:p>
            <a:pPr algn="ctr"/>
            <a:r>
              <a:rPr lang="pt-BR" sz="54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Relacional do Exemplo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402900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9569" y="274638"/>
            <a:ext cx="10744200" cy="1325563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Atualizando a Estrutura da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02532"/>
            <a:ext cx="8435280" cy="864096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Tabela que armazena os </a:t>
            </a:r>
            <a:r>
              <a:rPr lang="pt-BR" sz="4000" dirty="0">
                <a:solidFill>
                  <a:srgbClr val="0070C0"/>
                </a:solidFill>
              </a:rPr>
              <a:t>autores</a:t>
            </a:r>
            <a:r>
              <a:rPr lang="pt-BR" sz="3000" dirty="0">
                <a:solidFill>
                  <a:srgbClr val="0070C0"/>
                </a:solidFill>
              </a:rPr>
              <a:t> </a:t>
            </a:r>
            <a:r>
              <a:rPr lang="pt-BR" sz="3000" dirty="0"/>
              <a:t>dos livros:  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981200" y="4395386"/>
            <a:ext cx="8496944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SzPct val="60000"/>
              <a:buFontTx/>
              <a:buBlip>
                <a:blip r:embed="rId2"/>
              </a:buBlip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</a:pPr>
            <a:r>
              <a:rPr lang="pt-BR" sz="3000" dirty="0"/>
              <a:t>Tabela que armazena os </a:t>
            </a:r>
            <a:r>
              <a:rPr lang="pt-BR" sz="4000" dirty="0">
                <a:solidFill>
                  <a:srgbClr val="FFC000"/>
                </a:solidFill>
              </a:rPr>
              <a:t>generos</a:t>
            </a:r>
            <a:r>
              <a:rPr lang="pt-BR" sz="3000" dirty="0">
                <a:solidFill>
                  <a:srgbClr val="FFC000"/>
                </a:solidFill>
              </a:rPr>
              <a:t> </a:t>
            </a:r>
            <a:r>
              <a:rPr lang="pt-BR" sz="3000" dirty="0"/>
              <a:t>dos livros:  </a:t>
            </a:r>
          </a:p>
        </p:txBody>
      </p:sp>
      <p:sp>
        <p:nvSpPr>
          <p:cNvPr id="6" name="Retângulo 5"/>
          <p:cNvSpPr/>
          <p:nvPr/>
        </p:nvSpPr>
        <p:spPr>
          <a:xfrm>
            <a:off x="2778460" y="2879916"/>
            <a:ext cx="68407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Autor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 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codigo_autor, nome_completo, </a:t>
            </a:r>
          </a:p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   nome, sobrenome </a:t>
            </a:r>
          </a:p>
          <a:p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Retângulo 6"/>
          <p:cNvSpPr/>
          <p:nvPr/>
        </p:nvSpPr>
        <p:spPr>
          <a:xfrm>
            <a:off x="2581418" y="5335766"/>
            <a:ext cx="72965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Genero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codigo_genero, nome, sigla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143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3677" y="274638"/>
            <a:ext cx="10278208" cy="1325563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Atualizando a Estrutura da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02532"/>
            <a:ext cx="8435280" cy="864096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Tabela que armazena os </a:t>
            </a:r>
            <a:r>
              <a:rPr lang="pt-BR" sz="4000" dirty="0">
                <a:solidFill>
                  <a:srgbClr val="7030A0"/>
                </a:solidFill>
              </a:rPr>
              <a:t>dados</a:t>
            </a:r>
            <a:r>
              <a:rPr lang="pt-BR" sz="3000" dirty="0">
                <a:solidFill>
                  <a:srgbClr val="7030A0"/>
                </a:solidFill>
              </a:rPr>
              <a:t> </a:t>
            </a:r>
            <a:r>
              <a:rPr lang="pt-BR" sz="3000" dirty="0"/>
              <a:t>dos livros:  </a:t>
            </a:r>
          </a:p>
        </p:txBody>
      </p:sp>
      <p:sp>
        <p:nvSpPr>
          <p:cNvPr id="8" name="Retângulo 7"/>
          <p:cNvSpPr/>
          <p:nvPr/>
        </p:nvSpPr>
        <p:spPr>
          <a:xfrm>
            <a:off x="2016260" y="2924944"/>
            <a:ext cx="86517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Livro </a:t>
            </a:r>
            <a:r>
              <a:rPr lang="pt-BR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codigo_livro, nome, edição, ano, 	   	codigo_autor, codigo_genero, 	codigo_editora</a:t>
            </a:r>
            <a:r>
              <a:rPr lang="pt-BR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codigo_autor </a:t>
            </a:r>
            <a:r>
              <a:rPr lang="pt-B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referencia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Autor </a:t>
            </a:r>
            <a:r>
              <a:rPr lang="pt-BR" sz="28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codigo_autor</a:t>
            </a:r>
            <a:r>
              <a:rPr lang="pt-BR" sz="28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codigo_genero </a:t>
            </a:r>
            <a:r>
              <a:rPr lang="pt-B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referencia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Genero </a:t>
            </a:r>
            <a:r>
              <a:rPr lang="pt-BR" sz="28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codigo_genero</a:t>
            </a:r>
            <a:r>
              <a:rPr lang="pt-BR" sz="28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codigo_editora </a:t>
            </a:r>
            <a:r>
              <a:rPr lang="pt-B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referencia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Editora </a:t>
            </a:r>
            <a:r>
              <a:rPr lang="pt-BR" sz="28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codigo_editora</a:t>
            </a:r>
            <a:r>
              <a:rPr lang="pt-BR" sz="28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803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7977" y="274638"/>
            <a:ext cx="10172700" cy="1325563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Atualizando a Estrutura da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02532"/>
            <a:ext cx="8507288" cy="1166428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Tabela que armazena o relacionamento </a:t>
            </a:r>
            <a:r>
              <a:rPr lang="pt-BR" sz="3000" dirty="0">
                <a:solidFill>
                  <a:srgbClr val="C00000"/>
                </a:solidFill>
              </a:rPr>
              <a:t>N:N</a:t>
            </a:r>
            <a:r>
              <a:rPr lang="pt-BR" sz="3000" dirty="0"/>
              <a:t> entre os alunos que emprestam vários livros:   </a:t>
            </a:r>
          </a:p>
        </p:txBody>
      </p:sp>
      <p:sp>
        <p:nvSpPr>
          <p:cNvPr id="5" name="Retângulo 4"/>
          <p:cNvSpPr/>
          <p:nvPr/>
        </p:nvSpPr>
        <p:spPr>
          <a:xfrm>
            <a:off x="2063552" y="3263721"/>
            <a:ext cx="814724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Emprestimo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codigo_emprestimo, matricula, 		     codigo_livro, data_retirada, 		              data_devolucao </a:t>
            </a:r>
            <a:r>
              <a:rPr lang="pt-BR" sz="3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matricula </a:t>
            </a:r>
            <a:r>
              <a:rPr lang="pt-BR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referencia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Aluno </a:t>
            </a:r>
            <a:r>
              <a:rPr lang="pt-BR" sz="3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matricula</a:t>
            </a:r>
            <a:r>
              <a:rPr lang="pt-BR" sz="3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codigo_livro </a:t>
            </a:r>
            <a:r>
              <a:rPr lang="pt-BR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referencia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Livro </a:t>
            </a:r>
            <a:r>
              <a:rPr lang="pt-BR" sz="3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codigo_livro</a:t>
            </a:r>
            <a:r>
              <a:rPr lang="pt-BR" sz="3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915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Estudo de caso da biblioteca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3640"/>
            <a:ext cx="8229600" cy="676671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Criação do banco de dados da biblioteca: </a:t>
            </a:r>
          </a:p>
        </p:txBody>
      </p:sp>
      <p:sp>
        <p:nvSpPr>
          <p:cNvPr id="5" name="Retângulo 4"/>
          <p:cNvSpPr/>
          <p:nvPr/>
        </p:nvSpPr>
        <p:spPr>
          <a:xfrm>
            <a:off x="3035660" y="3429001"/>
            <a:ext cx="6120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CREATE DATABASE 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Biblioteca; </a:t>
            </a:r>
          </a:p>
          <a:p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USE</a:t>
            </a:r>
            <a:r>
              <a:rPr lang="pt-B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Biblioteca; </a:t>
            </a:r>
          </a:p>
        </p:txBody>
      </p:sp>
    </p:spTree>
    <p:extLst>
      <p:ext uri="{BB962C8B-B14F-4D97-AF65-F5344CB8AC3E}">
        <p14:creationId xmlns:p14="http://schemas.microsoft.com/office/powerpoint/2010/main" val="92333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Chave Estrangeira ( FK )</a:t>
            </a:r>
          </a:p>
        </p:txBody>
      </p:sp>
      <p:sp>
        <p:nvSpPr>
          <p:cNvPr id="5" name="Retângulo 4"/>
          <p:cNvSpPr/>
          <p:nvPr/>
        </p:nvSpPr>
        <p:spPr>
          <a:xfrm>
            <a:off x="2166392" y="1417638"/>
            <a:ext cx="785921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CREATE TABLE 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autor </a:t>
            </a:r>
            <a:r>
              <a:rPr lang="pt-BR" sz="2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id_autor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PRIMARY KEY AUTO_INCREMENT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</a:p>
          <a:p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nome_completo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varchar(50)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NOT NULL,</a:t>
            </a:r>
          </a:p>
          <a:p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nome </a:t>
            </a:r>
            <a:r>
              <a:rPr lang="pt-BR" sz="2200" dirty="0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varchar</a:t>
            </a:r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(50) NOT NULL,</a:t>
            </a:r>
          </a:p>
          <a:p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sobrenome </a:t>
            </a:r>
            <a:r>
              <a:rPr lang="pt-BR" sz="2200" dirty="0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varchar</a:t>
            </a:r>
            <a:r>
              <a:rPr lang="pt-BR" sz="22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(50) NOT NULL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)ENGINE=INNODB DEFAULT CHARSET=UTF8</a:t>
            </a:r>
            <a:r>
              <a:rPr lang="pt-B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pt-BR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0464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Estudo de caso da biblioteca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676671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sz="3000" dirty="0"/>
              <a:t>Criação da tabela de gênero dos livros: </a:t>
            </a:r>
          </a:p>
        </p:txBody>
      </p:sp>
      <p:sp>
        <p:nvSpPr>
          <p:cNvPr id="6" name="Retângulo 5"/>
          <p:cNvSpPr/>
          <p:nvPr/>
        </p:nvSpPr>
        <p:spPr>
          <a:xfrm>
            <a:off x="506028" y="2924945"/>
            <a:ext cx="10015998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CREATE TABLE 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genero </a:t>
            </a:r>
            <a:r>
              <a:rPr lang="pt-BR" sz="3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id_genero</a:t>
            </a:r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AUTO_INCREMENT PRIMARY KEY</a:t>
            </a:r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sz="3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nome </a:t>
            </a:r>
            <a:r>
              <a:rPr lang="pt-BR" sz="3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varchar(30)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NOT NULL,</a:t>
            </a:r>
          </a:p>
          <a:p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sigla </a:t>
            </a:r>
            <a:r>
              <a:rPr lang="pt-BR" sz="3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sz="3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(10)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NOT NULL </a:t>
            </a:r>
          </a:p>
          <a:p>
            <a:r>
              <a:rPr lang="pt-BR" sz="3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ENGINE=INNODB DEFAULT CHARSET=UTF8</a:t>
            </a:r>
            <a:r>
              <a:rPr lang="pt-BR" sz="30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024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Estudo de caso da biblioteca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676671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Criação da tabela da editora dos livros: </a:t>
            </a:r>
          </a:p>
        </p:txBody>
      </p:sp>
      <p:sp>
        <p:nvSpPr>
          <p:cNvPr id="6" name="Retângulo 5"/>
          <p:cNvSpPr/>
          <p:nvPr/>
        </p:nvSpPr>
        <p:spPr>
          <a:xfrm>
            <a:off x="609479" y="2690337"/>
            <a:ext cx="10753937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CREATE TABLE 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editora </a:t>
            </a:r>
            <a:r>
              <a:rPr lang="pt-BR" sz="3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id_editora</a:t>
            </a:r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AUTO_INCREMENT PRIMARY KEY</a:t>
            </a:r>
            <a:r>
              <a:rPr lang="en-US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sz="3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nome </a:t>
            </a:r>
            <a:r>
              <a:rPr lang="pt-BR" sz="3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varchar(50)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NOT NULL </a:t>
            </a:r>
          </a:p>
          <a:p>
            <a:r>
              <a:rPr lang="pt-BR" sz="3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ENGINE=INNODB DEFAULT CHARSET=UTF8</a:t>
            </a:r>
            <a:r>
              <a:rPr lang="pt-BR" sz="3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293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Estudo de caso da biblioteca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5767" y="1417639"/>
            <a:ext cx="8229600" cy="676671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Criação da tabela livro: </a:t>
            </a:r>
          </a:p>
        </p:txBody>
      </p:sp>
      <p:sp>
        <p:nvSpPr>
          <p:cNvPr id="6" name="Retângulo 5"/>
          <p:cNvSpPr/>
          <p:nvPr/>
        </p:nvSpPr>
        <p:spPr>
          <a:xfrm>
            <a:off x="1109709" y="2022193"/>
            <a:ext cx="954468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pt-BR" sz="20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ivro </a:t>
            </a:r>
            <a:r>
              <a:rPr lang="pt-BR" sz="20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id_livro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AUTO_INCREMENT 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varchar(50)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 </a:t>
            </a:r>
            <a:r>
              <a:rPr lang="pt-BR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edicao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codigo_autor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codigo_genero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codigo_editora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0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(codigo_autor)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autor (</a:t>
            </a:r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id_autor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(codigo_genero) </a:t>
            </a:r>
            <a:r>
              <a:rPr lang="es-ES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s-E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genero 			             (</a:t>
            </a:r>
            <a:r>
              <a:rPr lang="es-E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id_genero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(codigo_editora) </a:t>
            </a:r>
            <a:r>
              <a:rPr lang="pt-BR" sz="20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editora (</a:t>
            </a:r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id_editora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2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ENGINE=INNODB DEFAULT CHARSET=UTF8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4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Estudo de caso da biblioteca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676671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dirty="0"/>
              <a:t>Criação da tabela aluno: </a:t>
            </a:r>
          </a:p>
        </p:txBody>
      </p:sp>
      <p:sp>
        <p:nvSpPr>
          <p:cNvPr id="6" name="Retângulo 5"/>
          <p:cNvSpPr/>
          <p:nvPr/>
        </p:nvSpPr>
        <p:spPr>
          <a:xfrm>
            <a:off x="435007" y="2276873"/>
            <a:ext cx="1023299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aluno </a:t>
            </a:r>
            <a:r>
              <a:rPr lang="pt-BR" sz="26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matricula </a:t>
            </a:r>
            <a:r>
              <a:rPr lang="en-US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varchar(8</a:t>
            </a:r>
            <a:r>
              <a:rPr lang="en-US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r>
              <a:rPr lang="en-US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nome </a:t>
            </a:r>
            <a:r>
              <a:rPr lang="pt-BR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varchar(50)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fone </a:t>
            </a:r>
            <a:r>
              <a:rPr lang="pt-BR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varchar(15) </a:t>
            </a:r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endereco </a:t>
            </a:r>
            <a:r>
              <a:rPr lang="pt-BR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varchar(100) </a:t>
            </a:r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sexo </a:t>
            </a:r>
            <a:r>
              <a:rPr lang="pt-BR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char(1) </a:t>
            </a:r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CPF </a:t>
            </a:r>
            <a:r>
              <a:rPr lang="pt-BR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varchar(11)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6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email </a:t>
            </a:r>
            <a:r>
              <a:rPr lang="pt-BR" sz="26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varchar(50)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6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6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ENGINE=INNODB DEFAULT CHARSET=UTF8</a:t>
            </a:r>
            <a:r>
              <a:rPr lang="pt-BR" sz="26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pt-BR" sz="2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61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Estudo de caso da biblioteca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676671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dirty="0"/>
              <a:t>Criação da tabela empréstimo dos livros: </a:t>
            </a:r>
          </a:p>
        </p:txBody>
      </p:sp>
      <p:sp>
        <p:nvSpPr>
          <p:cNvPr id="5" name="Retângulo 4"/>
          <p:cNvSpPr/>
          <p:nvPr/>
        </p:nvSpPr>
        <p:spPr>
          <a:xfrm>
            <a:off x="609480" y="2271439"/>
            <a:ext cx="98070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pt-BR" sz="23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mprestimo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</a:p>
          <a:p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codigo_emprestimo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i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3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r>
              <a:rPr lang="pt-BR" sz="23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AUTO_INCREMENT 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codigo_matricula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varchar(8)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codigo_livro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data_retirada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data_devolucao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codigo_matricula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pt-BR" sz="23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luno (matricula),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(codigo_livro) </a:t>
            </a:r>
            <a:r>
              <a:rPr lang="pt-BR" sz="2300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pt-BR" sz="23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ivro 			   (</a:t>
            </a:r>
            <a:r>
              <a:rPr lang="pt-BR" sz="23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id_livro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pt-BR" sz="2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ENGINE=INNODB DEFAULT CHARSET=UTF8</a:t>
            </a:r>
            <a:r>
              <a:rPr lang="pt-BR" sz="23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pt-BR" sz="23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975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14927" y="1923989"/>
            <a:ext cx="10625956" cy="44768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/>
              <a:t>INSERT INTO </a:t>
            </a:r>
            <a:r>
              <a:rPr lang="pt-BR" i="1" dirty="0"/>
              <a:t>genero </a:t>
            </a:r>
            <a:endParaRPr lang="pt-BR" dirty="0"/>
          </a:p>
          <a:p>
            <a:pPr marL="0" indent="0">
              <a:buNone/>
            </a:pPr>
            <a:r>
              <a:rPr lang="en-US" b="1" i="1" dirty="0"/>
              <a:t>	VALUES </a:t>
            </a:r>
            <a:r>
              <a:rPr lang="en-US" i="1" dirty="0"/>
              <a:t>(null,'</a:t>
            </a:r>
            <a:r>
              <a:rPr lang="en-US" i="1" dirty="0" err="1"/>
              <a:t>Informática</a:t>
            </a:r>
            <a:r>
              <a:rPr lang="en-US" i="1" dirty="0"/>
              <a:t>', 'INF')</a:t>
            </a:r>
            <a:r>
              <a:rPr lang="en-US" b="1" i="1" dirty="0"/>
              <a:t>; </a:t>
            </a:r>
          </a:p>
          <a:p>
            <a:pPr marL="0" indent="0">
              <a:buNone/>
            </a:pPr>
            <a:r>
              <a:rPr lang="en-US" b="1" i="1" dirty="0"/>
              <a:t>INSERT INTO </a:t>
            </a:r>
            <a:r>
              <a:rPr lang="en-US" i="1" dirty="0" err="1"/>
              <a:t>genero</a:t>
            </a:r>
            <a:r>
              <a:rPr lang="en-US" i="1" dirty="0"/>
              <a:t> </a:t>
            </a:r>
            <a:endParaRPr lang="en-US" dirty="0"/>
          </a:p>
          <a:p>
            <a:pPr marL="0" indent="0">
              <a:buNone/>
            </a:pPr>
            <a:r>
              <a:rPr lang="pt-BR" b="1" i="1" dirty="0"/>
              <a:t>	VALUES </a:t>
            </a:r>
            <a:r>
              <a:rPr lang="pt-BR" i="1" dirty="0"/>
              <a:t>(</a:t>
            </a:r>
            <a:r>
              <a:rPr lang="pt-BR" i="1" dirty="0" err="1"/>
              <a:t>null</a:t>
            </a:r>
            <a:r>
              <a:rPr lang="pt-BR" i="1" dirty="0"/>
              <a:t>,'Administração', 'ADM')</a:t>
            </a:r>
            <a:r>
              <a:rPr lang="pt-BR" b="1" i="1" dirty="0"/>
              <a:t>; </a:t>
            </a:r>
          </a:p>
          <a:p>
            <a:pPr marL="0" indent="0">
              <a:buNone/>
            </a:pPr>
            <a:r>
              <a:rPr lang="pt-BR" b="1" i="1" dirty="0"/>
              <a:t>INSERT INTO </a:t>
            </a:r>
            <a:r>
              <a:rPr lang="pt-BR" i="1" dirty="0"/>
              <a:t>genero </a:t>
            </a:r>
            <a:endParaRPr lang="pt-BR" dirty="0"/>
          </a:p>
          <a:p>
            <a:pPr marL="0" indent="0">
              <a:buNone/>
            </a:pPr>
            <a:r>
              <a:rPr lang="pt-BR" b="1" i="1" dirty="0"/>
              <a:t>	VALUES </a:t>
            </a:r>
            <a:r>
              <a:rPr lang="pt-BR" i="1" dirty="0"/>
              <a:t>(</a:t>
            </a:r>
            <a:r>
              <a:rPr lang="pt-BR" i="1" dirty="0" err="1"/>
              <a:t>null</a:t>
            </a:r>
            <a:r>
              <a:rPr lang="pt-BR" i="1" dirty="0"/>
              <a:t>,'Direito', 'DIR')</a:t>
            </a:r>
            <a:r>
              <a:rPr lang="pt-BR" b="1" i="1" dirty="0"/>
              <a:t>; </a:t>
            </a:r>
            <a:endParaRPr lang="pt-BR" dirty="0"/>
          </a:p>
          <a:p>
            <a:pPr marL="0" indent="0">
              <a:buNone/>
            </a:pPr>
            <a:r>
              <a:rPr lang="pt-BR" b="1" i="1" dirty="0"/>
              <a:t>INSERT INTO </a:t>
            </a:r>
            <a:r>
              <a:rPr lang="pt-BR" i="1" dirty="0"/>
              <a:t>genero </a:t>
            </a:r>
            <a:endParaRPr lang="pt-BR" dirty="0"/>
          </a:p>
          <a:p>
            <a:pPr marL="0" indent="0">
              <a:buNone/>
            </a:pPr>
            <a:r>
              <a:rPr lang="en-US" b="1" i="1" dirty="0"/>
              <a:t>	VALUES </a:t>
            </a:r>
            <a:r>
              <a:rPr lang="en-US" i="1" dirty="0"/>
              <a:t>(null,'</a:t>
            </a:r>
            <a:r>
              <a:rPr lang="en-US" i="1" dirty="0" err="1"/>
              <a:t>Matemática</a:t>
            </a:r>
            <a:r>
              <a:rPr lang="en-US" i="1" dirty="0"/>
              <a:t>', 'MAT')</a:t>
            </a:r>
            <a:r>
              <a:rPr lang="en-US" b="1" i="1" dirty="0"/>
              <a:t>; </a:t>
            </a:r>
          </a:p>
          <a:p>
            <a:pPr marL="0" indent="0">
              <a:buNone/>
            </a:pPr>
            <a:r>
              <a:rPr lang="en-US" b="1" i="1" dirty="0"/>
              <a:t>INSERT INTO </a:t>
            </a:r>
            <a:r>
              <a:rPr lang="en-US" i="1" dirty="0" err="1"/>
              <a:t>genero</a:t>
            </a:r>
            <a:r>
              <a:rPr lang="en-US" i="1" dirty="0"/>
              <a:t> </a:t>
            </a:r>
            <a:endParaRPr lang="en-US" dirty="0"/>
          </a:p>
          <a:p>
            <a:pPr marL="0" indent="0">
              <a:buNone/>
            </a:pPr>
            <a:r>
              <a:rPr lang="pt-BR" b="1" i="1" dirty="0"/>
              <a:t>	VALUES </a:t>
            </a:r>
            <a:r>
              <a:rPr lang="pt-BR" i="1" dirty="0"/>
              <a:t>(</a:t>
            </a:r>
            <a:r>
              <a:rPr lang="pt-BR" i="1" dirty="0" err="1"/>
              <a:t>null</a:t>
            </a:r>
            <a:r>
              <a:rPr lang="pt-BR" i="1" dirty="0"/>
              <a:t>,'Esportes', 'ESP')</a:t>
            </a:r>
            <a:r>
              <a:rPr lang="pt-BR" b="1" i="1" dirty="0"/>
              <a:t>; 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965455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7106" y="2215819"/>
            <a:ext cx="10625956" cy="4379534"/>
          </a:xfrm>
        </p:spPr>
        <p:txBody>
          <a:bodyPr>
            <a:normAutofit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pt-BR" sz="3000" dirty="0"/>
              <a:t>Também poderia ser feito desta forma: </a:t>
            </a:r>
          </a:p>
          <a:p>
            <a:pPr marL="0" indent="0">
              <a:buClr>
                <a:srgbClr val="00B0F0"/>
              </a:buClr>
              <a:buNone/>
            </a:pPr>
            <a:endParaRPr lang="pt-BR" sz="3000" dirty="0"/>
          </a:p>
          <a:p>
            <a:pPr marL="0" indent="0">
              <a:buClr>
                <a:srgbClr val="00B0F0"/>
              </a:buClr>
              <a:buNone/>
            </a:pPr>
            <a:r>
              <a:rPr lang="pt-BR" b="1" i="1" dirty="0"/>
              <a:t>INSERT INTO </a:t>
            </a:r>
            <a:r>
              <a:rPr lang="pt-BR" i="1" dirty="0"/>
              <a:t>genero </a:t>
            </a:r>
            <a:r>
              <a:rPr lang="pt-BR" b="1" i="1" dirty="0"/>
              <a:t>VALUES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b="1" i="1" dirty="0"/>
              <a:t>	</a:t>
            </a:r>
            <a:r>
              <a:rPr lang="pt-BR" i="1" dirty="0"/>
              <a:t>(1, 'Informática', 'INF'),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(2, 'Administração', 'ADM'),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(3, 'Direito', 'DIR'),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(4, 'Matemática', 'MAT'),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(5, 'Esportes', 'ESP')</a:t>
            </a:r>
            <a:r>
              <a:rPr lang="pt-BR" b="1" i="1" dirty="0"/>
              <a:t>; 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4287521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7106" y="2215819"/>
            <a:ext cx="11608460" cy="4379534"/>
          </a:xfrm>
        </p:spPr>
        <p:txBody>
          <a:bodyPr>
            <a:normAutofit fontScale="92500"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pt-BR" sz="3000" dirty="0"/>
              <a:t>Caso o código do gênero seja do tipo “</a:t>
            </a:r>
            <a:r>
              <a:rPr lang="pt-BR" sz="3000" dirty="0" err="1"/>
              <a:t>auto_incremment</a:t>
            </a:r>
            <a:r>
              <a:rPr lang="pt-BR" sz="3000" dirty="0"/>
              <a:t>”, não precisamos informar o valor do código ao inserir, substituindo por </a:t>
            </a:r>
            <a:r>
              <a:rPr lang="pt-BR" sz="3000" dirty="0" err="1"/>
              <a:t>Null</a:t>
            </a:r>
            <a:r>
              <a:rPr lang="pt-BR" sz="3000" dirty="0"/>
              <a:t>. </a:t>
            </a:r>
          </a:p>
          <a:p>
            <a:pPr marL="0" indent="0">
              <a:buClr>
                <a:srgbClr val="00B0F0"/>
              </a:buClr>
              <a:buNone/>
            </a:pPr>
            <a:endParaRPr lang="pt-BR" sz="3000" dirty="0"/>
          </a:p>
          <a:p>
            <a:pPr marL="0" indent="0">
              <a:buClr>
                <a:srgbClr val="00B0F0"/>
              </a:buClr>
              <a:buNone/>
            </a:pPr>
            <a:r>
              <a:rPr lang="pt-BR" b="1" i="1" dirty="0"/>
              <a:t>INSERT INTO </a:t>
            </a:r>
            <a:r>
              <a:rPr lang="pt-BR" i="1" dirty="0"/>
              <a:t>genero </a:t>
            </a:r>
            <a:r>
              <a:rPr lang="pt-BR" b="1" i="1" dirty="0"/>
              <a:t>VALUES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b="1" i="1" dirty="0"/>
              <a:t>	</a:t>
            </a:r>
            <a:r>
              <a:rPr lang="pt-BR" i="1" dirty="0"/>
              <a:t>(</a:t>
            </a:r>
            <a:r>
              <a:rPr lang="pt-BR" i="1" dirty="0" err="1"/>
              <a:t>null</a:t>
            </a:r>
            <a:r>
              <a:rPr lang="pt-BR" i="1" dirty="0"/>
              <a:t>, 'Informática', 'INF'),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</a:t>
            </a:r>
            <a:r>
              <a:rPr lang="pt-BR" i="1" dirty="0" err="1"/>
              <a:t>null</a:t>
            </a:r>
            <a:r>
              <a:rPr lang="pt-BR" i="1" dirty="0"/>
              <a:t>, 'Administração', 'ADM'),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</a:t>
            </a:r>
            <a:r>
              <a:rPr lang="pt-BR" i="1" dirty="0" err="1"/>
              <a:t>null</a:t>
            </a:r>
            <a:r>
              <a:rPr lang="pt-BR" i="1" dirty="0"/>
              <a:t>, 'Direito', 'DIR'),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</a:t>
            </a:r>
            <a:r>
              <a:rPr lang="pt-BR" i="1" dirty="0" err="1"/>
              <a:t>null</a:t>
            </a:r>
            <a:r>
              <a:rPr lang="pt-BR" i="1" dirty="0"/>
              <a:t>, 'Matemática', 'MAT'), </a:t>
            </a:r>
          </a:p>
          <a:p>
            <a:pPr marL="0" indent="0">
              <a:buClr>
                <a:srgbClr val="00B0F0"/>
              </a:buClr>
              <a:buNone/>
            </a:pPr>
            <a:r>
              <a:rPr lang="pt-BR" i="1" dirty="0"/>
              <a:t>	(</a:t>
            </a:r>
            <a:r>
              <a:rPr lang="pt-BR" i="1" dirty="0" err="1"/>
              <a:t>null</a:t>
            </a:r>
            <a:r>
              <a:rPr lang="pt-BR" i="1" dirty="0"/>
              <a:t>, 'Esportes', 'ESP')</a:t>
            </a:r>
            <a:r>
              <a:rPr lang="pt-BR" b="1" i="1" dirty="0"/>
              <a:t>; 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670981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7106" y="2215820"/>
            <a:ext cx="10625956" cy="624658"/>
          </a:xfrm>
        </p:spPr>
        <p:txBody>
          <a:bodyPr>
            <a:normAutofit/>
          </a:bodyPr>
          <a:lstStyle/>
          <a:p>
            <a:pPr marL="0" indent="0">
              <a:buClr>
                <a:srgbClr val="00B0F0"/>
              </a:buClr>
              <a:buNone/>
            </a:pPr>
            <a:r>
              <a:rPr lang="pt-BR" dirty="0"/>
              <a:t>A figura ilustra os dados inseridos na tabela gênero dos livros.</a:t>
            </a:r>
            <a:endParaRPr lang="pt-BR" sz="3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811" y="3073942"/>
            <a:ext cx="5816546" cy="328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83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6016" y="2680992"/>
            <a:ext cx="11569549" cy="3739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i="1" dirty="0"/>
              <a:t>INSERT INTO autor (</a:t>
            </a:r>
            <a:r>
              <a:rPr lang="pt-BR" sz="2400" b="1" i="1" dirty="0" err="1"/>
              <a:t>nome_completo</a:t>
            </a:r>
            <a:r>
              <a:rPr lang="pt-BR" sz="2400" b="1" i="1" dirty="0"/>
              <a:t>, nome, sobrenome) </a:t>
            </a:r>
          </a:p>
          <a:p>
            <a:pPr marL="0" indent="0">
              <a:buNone/>
            </a:pPr>
            <a:r>
              <a:rPr lang="pt-BR" sz="2400" b="1" i="1" dirty="0"/>
              <a:t>	VALUES ('Carlos Alberto </a:t>
            </a:r>
            <a:r>
              <a:rPr lang="pt-BR" sz="2400" b="1" i="1" dirty="0" err="1"/>
              <a:t>Heuser</a:t>
            </a:r>
            <a:r>
              <a:rPr lang="pt-BR" sz="2400" b="1" i="1" dirty="0"/>
              <a:t>', 'Carlos Alberto', 'HEUSER'); 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INSERT INTO autor (</a:t>
            </a:r>
            <a:r>
              <a:rPr lang="pt-BR" sz="2400" b="1" i="1" dirty="0" err="1"/>
              <a:t>nome_completo</a:t>
            </a:r>
            <a:r>
              <a:rPr lang="pt-BR" sz="2400" b="1" i="1" dirty="0"/>
              <a:t>, nome, sobrenome) </a:t>
            </a:r>
          </a:p>
          <a:p>
            <a:pPr marL="0" indent="0">
              <a:buNone/>
            </a:pPr>
            <a:r>
              <a:rPr lang="pt-BR" sz="2400" b="1" i="1" dirty="0"/>
              <a:t>	VALUES ('Idalberto Chiavenato', 'Idalberto', 'CHIAVENATO'); 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INSERT INTO autor (</a:t>
            </a:r>
            <a:r>
              <a:rPr lang="pt-BR" sz="2400" b="1" i="1" dirty="0" err="1"/>
              <a:t>nome_completo</a:t>
            </a:r>
            <a:r>
              <a:rPr lang="pt-BR" sz="2400" b="1" i="1" dirty="0"/>
              <a:t>, nome, sobrenome) 	</a:t>
            </a:r>
          </a:p>
          <a:p>
            <a:pPr marL="0" indent="0">
              <a:buNone/>
            </a:pPr>
            <a:r>
              <a:rPr lang="pt-BR" sz="2400" b="1" i="1" dirty="0"/>
              <a:t>	VALUES ('Paul </a:t>
            </a:r>
            <a:r>
              <a:rPr lang="pt-BR" sz="2400" b="1" i="1" dirty="0" err="1"/>
              <a:t>Deitel</a:t>
            </a:r>
            <a:r>
              <a:rPr lang="pt-BR" sz="2400" b="1" i="1" dirty="0"/>
              <a:t>', '</a:t>
            </a:r>
            <a:r>
              <a:rPr lang="pt-BR" sz="2400" b="1" i="1" dirty="0" err="1"/>
              <a:t>Deitel</a:t>
            </a:r>
            <a:r>
              <a:rPr lang="pt-BR" sz="2400" b="1" i="1" dirty="0"/>
              <a:t>', 'DEITEL');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0053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Inserir</a:t>
            </a:r>
            <a:r>
              <a:rPr lang="pt-BR" dirty="0"/>
              <a:t> </a:t>
            </a:r>
            <a:r>
              <a:rPr lang="pt-BR" sz="2800" dirty="0"/>
              <a:t>dados na tabela de autor.</a:t>
            </a:r>
          </a:p>
        </p:txBody>
      </p:sp>
    </p:spTree>
    <p:extLst>
      <p:ext uri="{BB962C8B-B14F-4D97-AF65-F5344CB8AC3E}">
        <p14:creationId xmlns:p14="http://schemas.microsoft.com/office/powerpoint/2010/main" val="369712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48781" y="2585471"/>
            <a:ext cx="6666811" cy="33678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b="1" i="1" dirty="0"/>
              <a:t>INSERT INTO editora </a:t>
            </a:r>
          </a:p>
          <a:p>
            <a:pPr marL="0" indent="0">
              <a:buNone/>
            </a:pPr>
            <a:r>
              <a:rPr lang="pt-BR" sz="2400" b="1" i="1" dirty="0"/>
              <a:t>	VALUES (</a:t>
            </a:r>
            <a:r>
              <a:rPr lang="pt-BR" sz="2400" b="1" i="1" dirty="0" err="1"/>
              <a:t>null</a:t>
            </a:r>
            <a:r>
              <a:rPr lang="pt-BR" sz="2400" b="1" i="1" dirty="0"/>
              <a:t>,'Pearson'); 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INSERT INTO Editora </a:t>
            </a:r>
          </a:p>
          <a:p>
            <a:pPr marL="0" indent="0">
              <a:buNone/>
            </a:pPr>
            <a:r>
              <a:rPr lang="pt-BR" sz="2400" b="1" i="1" dirty="0"/>
              <a:t>	VALUES (</a:t>
            </a:r>
            <a:r>
              <a:rPr lang="pt-BR" sz="2400" b="1" i="1" dirty="0" err="1"/>
              <a:t>null</a:t>
            </a:r>
            <a:r>
              <a:rPr lang="pt-BR" sz="2400" b="1" i="1" dirty="0"/>
              <a:t>,'Editora Campus'); 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INSERT INTO Editora </a:t>
            </a:r>
          </a:p>
          <a:p>
            <a:pPr marL="0" indent="0">
              <a:buNone/>
            </a:pPr>
            <a:r>
              <a:rPr lang="pt-BR" sz="2400" b="1" i="1" dirty="0"/>
              <a:t>	VALUES (</a:t>
            </a:r>
            <a:r>
              <a:rPr lang="pt-BR" sz="2400" b="1" i="1" dirty="0" err="1"/>
              <a:t>null</a:t>
            </a:r>
            <a:r>
              <a:rPr lang="pt-BR" sz="2400" b="1" i="1" dirty="0"/>
              <a:t>,'</a:t>
            </a:r>
            <a:r>
              <a:rPr lang="pt-BR" sz="2400" b="1" i="1" dirty="0" err="1"/>
              <a:t>Novatec</a:t>
            </a:r>
            <a:r>
              <a:rPr lang="pt-BR" sz="2400" b="1" i="1" dirty="0"/>
              <a:t>'); 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0053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Inserir</a:t>
            </a:r>
            <a:r>
              <a:rPr lang="pt-BR" dirty="0"/>
              <a:t> </a:t>
            </a:r>
            <a:r>
              <a:rPr lang="pt-BR" sz="2800" dirty="0"/>
              <a:t>dados na tabela de editora.</a:t>
            </a:r>
          </a:p>
        </p:txBody>
      </p:sp>
    </p:spTree>
    <p:extLst>
      <p:ext uri="{BB962C8B-B14F-4D97-AF65-F5344CB8AC3E}">
        <p14:creationId xmlns:p14="http://schemas.microsoft.com/office/powerpoint/2010/main" val="194760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2369706"/>
            <a:ext cx="11569549" cy="3641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i="1" dirty="0"/>
              <a:t>INSERT INTO livro (nome, ano, </a:t>
            </a:r>
            <a:r>
              <a:rPr lang="pt-BR" sz="2000" b="1" i="1" dirty="0" err="1"/>
              <a:t>edicao</a:t>
            </a:r>
            <a:r>
              <a:rPr lang="pt-BR" sz="2000" b="1" i="1" dirty="0"/>
              <a:t>, </a:t>
            </a:r>
            <a:r>
              <a:rPr lang="pt-BR" sz="2000" b="1" i="1" dirty="0" err="1"/>
              <a:t>codigo_autor</a:t>
            </a:r>
            <a:r>
              <a:rPr lang="pt-BR" sz="2000" b="1" i="1" dirty="0"/>
              <a:t>, </a:t>
            </a:r>
            <a:r>
              <a:rPr lang="pt-BR" sz="2000" b="1" i="1" dirty="0" err="1"/>
              <a:t>codigo_genero</a:t>
            </a:r>
            <a:r>
              <a:rPr lang="pt-BR" sz="2000" b="1" i="1" dirty="0"/>
              <a:t>, </a:t>
            </a:r>
            <a:r>
              <a:rPr lang="pt-BR" sz="2000" b="1" i="1" dirty="0" err="1"/>
              <a:t>codigo_editora</a:t>
            </a:r>
            <a:r>
              <a:rPr lang="pt-BR" sz="2000" b="1" i="1" dirty="0"/>
              <a:t>) </a:t>
            </a:r>
          </a:p>
          <a:p>
            <a:pPr marL="0" indent="0">
              <a:buNone/>
            </a:pPr>
            <a:r>
              <a:rPr lang="pt-BR" sz="2000" b="1" i="1" dirty="0"/>
              <a:t>	VALUES ('Projeto de Banco de Dados', 2009, 1, 1, 1, 1); </a:t>
            </a:r>
          </a:p>
          <a:p>
            <a:pPr marL="0" indent="0">
              <a:buNone/>
            </a:pPr>
            <a:endParaRPr lang="pt-BR" sz="2000" b="1" i="1" dirty="0"/>
          </a:p>
          <a:p>
            <a:pPr marL="0" indent="0">
              <a:buNone/>
            </a:pPr>
            <a:r>
              <a:rPr lang="pt-BR" sz="2000" b="1" i="1" dirty="0"/>
              <a:t>INSERT INTO livro (nome, ano, </a:t>
            </a:r>
            <a:r>
              <a:rPr lang="pt-BR" sz="2000" b="1" i="1" dirty="0" err="1"/>
              <a:t>edicao</a:t>
            </a:r>
            <a:r>
              <a:rPr lang="pt-BR" sz="2000" b="1" i="1" dirty="0"/>
              <a:t>, </a:t>
            </a:r>
            <a:r>
              <a:rPr lang="pt-BR" sz="2000" b="1" i="1" dirty="0" err="1"/>
              <a:t>codigo_autor</a:t>
            </a:r>
            <a:r>
              <a:rPr lang="pt-BR" sz="2000" b="1" i="1" dirty="0"/>
              <a:t>, </a:t>
            </a:r>
            <a:r>
              <a:rPr lang="pt-BR" sz="2000" b="1" i="1" dirty="0" err="1"/>
              <a:t>codigo_genero</a:t>
            </a:r>
            <a:r>
              <a:rPr lang="pt-BR" sz="2000" b="1" i="1" dirty="0"/>
              <a:t>, </a:t>
            </a:r>
            <a:r>
              <a:rPr lang="pt-BR" sz="2000" b="1" i="1" dirty="0" err="1"/>
              <a:t>codigo_editora</a:t>
            </a:r>
            <a:r>
              <a:rPr lang="pt-BR" sz="2000" b="1" i="1" dirty="0"/>
              <a:t>) </a:t>
            </a:r>
          </a:p>
          <a:p>
            <a:pPr marL="0" indent="0">
              <a:buNone/>
            </a:pPr>
            <a:r>
              <a:rPr lang="pt-BR" sz="2000" b="1" i="1" dirty="0"/>
              <a:t>	VALUES ('Java', 2010, 8, 3, 1, 1); </a:t>
            </a:r>
          </a:p>
          <a:p>
            <a:pPr marL="0" indent="0">
              <a:buNone/>
            </a:pPr>
            <a:endParaRPr lang="pt-BR" sz="2000" b="1" i="1" dirty="0"/>
          </a:p>
          <a:p>
            <a:pPr marL="0" indent="0">
              <a:buNone/>
            </a:pPr>
            <a:r>
              <a:rPr lang="pt-BR" sz="2000" b="1" i="1" dirty="0"/>
              <a:t>INSERT INTO livro (nome, ano, </a:t>
            </a:r>
            <a:r>
              <a:rPr lang="pt-BR" sz="2000" b="1" i="1" dirty="0" err="1"/>
              <a:t>edicao</a:t>
            </a:r>
            <a:r>
              <a:rPr lang="pt-BR" sz="2000" b="1" i="1" dirty="0"/>
              <a:t>, </a:t>
            </a:r>
            <a:r>
              <a:rPr lang="pt-BR" sz="2000" b="1" i="1" dirty="0" err="1"/>
              <a:t>codigo_autor</a:t>
            </a:r>
            <a:r>
              <a:rPr lang="pt-BR" sz="2000" b="1" i="1" dirty="0"/>
              <a:t>, </a:t>
            </a:r>
            <a:r>
              <a:rPr lang="pt-BR" sz="2000" b="1" i="1" dirty="0" err="1"/>
              <a:t>codigo_genero</a:t>
            </a:r>
            <a:r>
              <a:rPr lang="pt-BR" sz="2000" b="1" i="1" dirty="0"/>
              <a:t>, </a:t>
            </a:r>
            <a:r>
              <a:rPr lang="pt-BR" sz="2000" b="1" i="1" dirty="0" err="1"/>
              <a:t>codigo_editora</a:t>
            </a:r>
            <a:r>
              <a:rPr lang="pt-BR" sz="2000" b="1" i="1" dirty="0"/>
              <a:t>) </a:t>
            </a:r>
          </a:p>
          <a:p>
            <a:pPr marL="0" indent="0">
              <a:buNone/>
            </a:pPr>
            <a:r>
              <a:rPr lang="pt-BR" sz="2000" b="1" i="1" dirty="0"/>
              <a:t>	VALUES ('Teoria Geral da Administração', 2007, 3, 2, 2, 2); </a:t>
            </a:r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0053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Inserir</a:t>
            </a:r>
            <a:r>
              <a:rPr lang="pt-BR" dirty="0"/>
              <a:t> </a:t>
            </a:r>
            <a:r>
              <a:rPr lang="pt-BR" sz="2800" dirty="0"/>
              <a:t>dados na tabela de livros.</a:t>
            </a:r>
          </a:p>
        </p:txBody>
      </p:sp>
    </p:spTree>
    <p:extLst>
      <p:ext uri="{BB962C8B-B14F-4D97-AF65-F5344CB8AC3E}">
        <p14:creationId xmlns:p14="http://schemas.microsoft.com/office/powerpoint/2010/main" val="824556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5773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A figura ilustra os dados inseridos na tabela dos livros. 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060" y="2866107"/>
            <a:ext cx="8447279" cy="234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28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9291" y="2778268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i="1" dirty="0"/>
              <a:t>INSERT INTO </a:t>
            </a:r>
            <a:r>
              <a:rPr lang="pt-BR" sz="2400" i="1" dirty="0"/>
              <a:t>aluno (matricula, nome, fone, </a:t>
            </a:r>
            <a:r>
              <a:rPr lang="pt-BR" sz="2400" i="1" dirty="0" err="1"/>
              <a:t>endereco</a:t>
            </a:r>
            <a:r>
              <a:rPr lang="pt-BR" sz="2400" i="1" dirty="0"/>
              <a:t>, sexo, CPF, </a:t>
            </a:r>
            <a:r>
              <a:rPr lang="pt-BR" sz="2400" i="1" dirty="0" err="1"/>
              <a:t>email</a:t>
            </a:r>
            <a:r>
              <a:rPr lang="pt-BR" sz="2400" i="1" dirty="0"/>
              <a:t>) </a:t>
            </a:r>
          </a:p>
          <a:p>
            <a:pPr marL="0" indent="0">
              <a:buNone/>
            </a:pPr>
            <a:r>
              <a:rPr lang="pt-BR" sz="2400" b="1" i="1" dirty="0"/>
              <a:t>	VALUES </a:t>
            </a:r>
            <a:r>
              <a:rPr lang="pt-BR" sz="2400" i="1" dirty="0"/>
              <a:t>(1, 'Maria', 54, 'Caxias do Sul', 'F', '112', 'maria@senacrs.com.br')</a:t>
            </a:r>
            <a:r>
              <a:rPr lang="pt-BR" sz="2400" b="1" i="1" dirty="0"/>
              <a:t>; 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INSERT INTO </a:t>
            </a:r>
            <a:r>
              <a:rPr lang="pt-BR" sz="2400" i="1" dirty="0"/>
              <a:t>aluno (matricula, nome, fone, </a:t>
            </a:r>
            <a:r>
              <a:rPr lang="pt-BR" sz="2400" i="1" dirty="0" err="1"/>
              <a:t>endereco</a:t>
            </a:r>
            <a:r>
              <a:rPr lang="pt-BR" sz="2400" i="1" dirty="0"/>
              <a:t>, sexo, CPF, </a:t>
            </a:r>
            <a:r>
              <a:rPr lang="pt-BR" sz="2400" i="1" dirty="0" err="1"/>
              <a:t>email</a:t>
            </a:r>
            <a:r>
              <a:rPr lang="pt-BR" sz="2400" i="1" dirty="0"/>
              <a:t>) </a:t>
            </a:r>
          </a:p>
          <a:p>
            <a:pPr marL="0" indent="0">
              <a:buNone/>
            </a:pPr>
            <a:r>
              <a:rPr lang="pt-BR" sz="2400" b="1" i="1" dirty="0"/>
              <a:t>	VALUES </a:t>
            </a:r>
            <a:r>
              <a:rPr lang="pt-BR" sz="2400" i="1" dirty="0"/>
              <a:t>(2, ‘João', 51, ‘Porto Alegre', 'M', '99900', 'joao@senacrs.com.br')</a:t>
            </a:r>
            <a:r>
              <a:rPr lang="pt-BR" sz="2400" b="1" i="1" dirty="0"/>
              <a:t>; 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0053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Inserir</a:t>
            </a:r>
            <a:r>
              <a:rPr lang="pt-BR" dirty="0"/>
              <a:t> </a:t>
            </a:r>
            <a:r>
              <a:rPr lang="pt-BR" sz="2800" dirty="0"/>
              <a:t>dados na tabela de aluno.</a:t>
            </a:r>
          </a:p>
        </p:txBody>
      </p:sp>
    </p:spTree>
    <p:extLst>
      <p:ext uri="{BB962C8B-B14F-4D97-AF65-F5344CB8AC3E}">
        <p14:creationId xmlns:p14="http://schemas.microsoft.com/office/powerpoint/2010/main" val="814612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9291" y="2778268"/>
            <a:ext cx="11569549" cy="27081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i="1" dirty="0"/>
              <a:t>INSERT INTO </a:t>
            </a:r>
            <a:r>
              <a:rPr lang="pt-BR" i="1" dirty="0" err="1"/>
              <a:t>emprestimo</a:t>
            </a:r>
            <a:r>
              <a:rPr lang="pt-BR" i="1" dirty="0"/>
              <a:t> (</a:t>
            </a:r>
            <a:r>
              <a:rPr lang="pt-BR" i="1" dirty="0" err="1"/>
              <a:t>codigo_matricula</a:t>
            </a:r>
            <a:r>
              <a:rPr lang="pt-BR" i="1" dirty="0"/>
              <a:t>, </a:t>
            </a:r>
            <a:r>
              <a:rPr lang="pt-BR" i="1" dirty="0" err="1"/>
              <a:t>codigo_livro</a:t>
            </a:r>
            <a:r>
              <a:rPr lang="pt-BR" i="1" dirty="0"/>
              <a:t>, </a:t>
            </a:r>
            <a:r>
              <a:rPr lang="pt-BR" i="1" dirty="0" err="1"/>
              <a:t>data_retirada</a:t>
            </a:r>
            <a:r>
              <a:rPr lang="pt-BR" i="1" dirty="0"/>
              <a:t>, </a:t>
            </a:r>
            <a:r>
              <a:rPr lang="pt-BR" i="1" dirty="0" err="1"/>
              <a:t>data_devolucao</a:t>
            </a:r>
            <a:r>
              <a:rPr lang="pt-BR" i="1" dirty="0"/>
              <a:t>) </a:t>
            </a:r>
            <a:endParaRPr lang="pt-BR" dirty="0"/>
          </a:p>
          <a:p>
            <a:pPr marL="0" indent="0">
              <a:buNone/>
            </a:pPr>
            <a:r>
              <a:rPr lang="pt-BR" b="1" i="1" dirty="0"/>
              <a:t>	VALUES </a:t>
            </a:r>
            <a:r>
              <a:rPr lang="pt-BR" i="1" dirty="0"/>
              <a:t>(‘1’,  1, ‘2024-01-30’, ‘2024-02-28’)</a:t>
            </a:r>
            <a:r>
              <a:rPr lang="pt-BR" b="1" i="1" dirty="0"/>
              <a:t>; </a:t>
            </a:r>
          </a:p>
          <a:p>
            <a:pPr marL="0" indent="0">
              <a:buNone/>
            </a:pPr>
            <a:endParaRPr lang="pt-BR" b="1" i="1" dirty="0"/>
          </a:p>
          <a:p>
            <a:pPr marL="0" indent="0">
              <a:buNone/>
            </a:pPr>
            <a:r>
              <a:rPr lang="pt-BR" b="1" i="1" dirty="0"/>
              <a:t>INSERT INTO </a:t>
            </a:r>
            <a:r>
              <a:rPr lang="pt-BR" i="1" dirty="0" err="1"/>
              <a:t>emprestimo</a:t>
            </a:r>
            <a:r>
              <a:rPr lang="pt-BR" i="1" dirty="0"/>
              <a:t> (</a:t>
            </a:r>
            <a:r>
              <a:rPr lang="pt-BR" i="1" dirty="0" err="1"/>
              <a:t>codigo_matricula</a:t>
            </a:r>
            <a:r>
              <a:rPr lang="pt-BR" i="1" dirty="0"/>
              <a:t>, </a:t>
            </a:r>
            <a:r>
              <a:rPr lang="pt-BR" i="1" dirty="0" err="1"/>
              <a:t>codigo_livro</a:t>
            </a:r>
            <a:r>
              <a:rPr lang="pt-BR" i="1" dirty="0"/>
              <a:t>, </a:t>
            </a:r>
            <a:r>
              <a:rPr lang="pt-BR" i="1" dirty="0" err="1"/>
              <a:t>data_retirada</a:t>
            </a:r>
            <a:r>
              <a:rPr lang="pt-BR" i="1" dirty="0"/>
              <a:t>, </a:t>
            </a:r>
            <a:r>
              <a:rPr lang="pt-BR" i="1" dirty="0" err="1"/>
              <a:t>data_devolucao</a:t>
            </a:r>
            <a:r>
              <a:rPr lang="pt-BR" i="1" dirty="0"/>
              <a:t>) </a:t>
            </a:r>
            <a:endParaRPr lang="pt-BR" dirty="0"/>
          </a:p>
          <a:p>
            <a:pPr marL="0" indent="0">
              <a:buNone/>
            </a:pPr>
            <a:r>
              <a:rPr lang="fr-FR" b="1" i="1" dirty="0"/>
              <a:t>	VALUES </a:t>
            </a:r>
            <a:r>
              <a:rPr lang="fr-FR" i="1" dirty="0"/>
              <a:t>( ‘2’, 2, </a:t>
            </a:r>
            <a:r>
              <a:rPr lang="pt-BR" i="1" dirty="0"/>
              <a:t>‘2024-01-30’, ‘2024-02-28’)</a:t>
            </a:r>
            <a:r>
              <a:rPr lang="pt-BR" b="1" i="1" dirty="0"/>
              <a:t>; 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8808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Inserir</a:t>
            </a:r>
            <a:r>
              <a:rPr lang="pt-BR" dirty="0"/>
              <a:t> </a:t>
            </a:r>
            <a:r>
              <a:rPr lang="pt-BR" sz="2800" dirty="0"/>
              <a:t>dados na tabela de </a:t>
            </a:r>
            <a:r>
              <a:rPr lang="pt-BR" sz="2800" dirty="0" err="1"/>
              <a:t>emprestimo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265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9291" y="2778268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/>
              <a:t>SELECT * FROM livro JOIN editora ON </a:t>
            </a:r>
            <a:r>
              <a:rPr lang="pt-BR" b="1" i="1" dirty="0" err="1"/>
              <a:t>editora.id_editora</a:t>
            </a:r>
            <a:r>
              <a:rPr lang="pt-BR" b="1" i="1" dirty="0"/>
              <a:t> = </a:t>
            </a:r>
            <a:r>
              <a:rPr lang="pt-BR" b="1" i="1" dirty="0" err="1"/>
              <a:t>livro.codigo_editora</a:t>
            </a:r>
            <a:r>
              <a:rPr lang="pt-BR" b="1" i="1" dirty="0"/>
              <a:t>;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dirty="0"/>
              <a:t>#Selecionar a tabela livro com referência na tabela autor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dirty="0"/>
              <a:t>SELECT * FROM livro JOIN autor ON </a:t>
            </a:r>
            <a:r>
              <a:rPr lang="pt-BR" sz="2400" dirty="0" err="1"/>
              <a:t>autor.id_autor</a:t>
            </a:r>
            <a:r>
              <a:rPr lang="pt-BR" sz="2400" dirty="0"/>
              <a:t> = </a:t>
            </a:r>
            <a:r>
              <a:rPr lang="pt-BR" sz="2400" dirty="0" err="1"/>
              <a:t>livro.codigo_autor</a:t>
            </a:r>
            <a:r>
              <a:rPr lang="pt-BR" sz="2400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8808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editora</a:t>
            </a:r>
          </a:p>
        </p:txBody>
      </p:sp>
    </p:spTree>
    <p:extLst>
      <p:ext uri="{BB962C8B-B14F-4D97-AF65-F5344CB8AC3E}">
        <p14:creationId xmlns:p14="http://schemas.microsoft.com/office/powerpoint/2010/main" val="3132776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9291" y="2778268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SELECT * FROM </a:t>
            </a:r>
            <a:r>
              <a:rPr lang="en-US" b="1" i="1" dirty="0" err="1"/>
              <a:t>livro</a:t>
            </a:r>
            <a:r>
              <a:rPr lang="en-US" b="1" i="1" dirty="0"/>
              <a:t> JOIN </a:t>
            </a:r>
            <a:r>
              <a:rPr lang="en-US" b="1" i="1" dirty="0" err="1"/>
              <a:t>genero</a:t>
            </a:r>
            <a:r>
              <a:rPr lang="en-US" b="1" i="1" dirty="0"/>
              <a:t> ON </a:t>
            </a:r>
            <a:r>
              <a:rPr lang="en-US" b="1" i="1" dirty="0" err="1"/>
              <a:t>genero.id_genero</a:t>
            </a:r>
            <a:r>
              <a:rPr lang="en-US" b="1" i="1" dirty="0"/>
              <a:t> = </a:t>
            </a:r>
            <a:r>
              <a:rPr lang="en-US" b="1" i="1" dirty="0" err="1"/>
              <a:t>livro.codigo_genero</a:t>
            </a:r>
            <a:r>
              <a:rPr lang="en-US" b="1" i="1" dirty="0"/>
              <a:t>;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68808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</a:t>
            </a:r>
            <a:r>
              <a:rPr lang="pt-BR" sz="2800" dirty="0" err="1"/>
              <a:t>genero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18580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9291" y="2778268"/>
            <a:ext cx="11569549" cy="27081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/>
              <a:t>SELECT </a:t>
            </a:r>
            <a:r>
              <a:rPr lang="en-US" b="1" i="1" dirty="0" err="1"/>
              <a:t>livro.nome</a:t>
            </a:r>
            <a:r>
              <a:rPr lang="en-US" b="1" i="1" dirty="0"/>
              <a:t>, </a:t>
            </a:r>
            <a:r>
              <a:rPr lang="en-US" b="1" i="1" dirty="0" err="1"/>
              <a:t>livro.ano</a:t>
            </a:r>
            <a:r>
              <a:rPr lang="en-US" b="1" i="1" dirty="0"/>
              <a:t>, </a:t>
            </a:r>
            <a:r>
              <a:rPr lang="en-US" b="1" i="1" dirty="0" err="1"/>
              <a:t>livro.edicao</a:t>
            </a:r>
            <a:r>
              <a:rPr lang="en-US" b="1" i="1" dirty="0"/>
              <a:t>, </a:t>
            </a:r>
            <a:r>
              <a:rPr lang="en-US" b="1" i="1" dirty="0" err="1"/>
              <a:t>editora.nome</a:t>
            </a:r>
            <a:r>
              <a:rPr lang="en-US" b="1" i="1" dirty="0"/>
              <a:t> FROM </a:t>
            </a:r>
            <a:r>
              <a:rPr lang="en-US" b="1" i="1" dirty="0" err="1"/>
              <a:t>livro</a:t>
            </a:r>
            <a:r>
              <a:rPr lang="en-US" b="1" i="1" dirty="0"/>
              <a:t> JOIN </a:t>
            </a:r>
            <a:r>
              <a:rPr lang="en-US" b="1" i="1" dirty="0" err="1"/>
              <a:t>editora</a:t>
            </a:r>
            <a:r>
              <a:rPr lang="en-US" b="1" i="1" dirty="0"/>
              <a:t> ON </a:t>
            </a:r>
            <a:r>
              <a:rPr lang="en-US" b="1" i="1" dirty="0" err="1"/>
              <a:t>editora.id_editora</a:t>
            </a:r>
            <a:r>
              <a:rPr lang="en-US" b="1" i="1" dirty="0"/>
              <a:t> = </a:t>
            </a:r>
            <a:r>
              <a:rPr lang="en-US" b="1" i="1" dirty="0" err="1"/>
              <a:t>livro.codigo_editora</a:t>
            </a:r>
            <a:r>
              <a:rPr lang="en-US" b="1" i="1" dirty="0"/>
              <a:t>;</a:t>
            </a:r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pt-BR" sz="2400" dirty="0"/>
              <a:t>#Selecionar a tabela livro com referência na tabela autor, não mostrando os identificadores</a:t>
            </a:r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pt-BR" sz="2400" dirty="0"/>
              <a:t>SELECT </a:t>
            </a:r>
            <a:r>
              <a:rPr lang="pt-BR" sz="2400" dirty="0" err="1"/>
              <a:t>livro.nome</a:t>
            </a:r>
            <a:r>
              <a:rPr lang="pt-BR" sz="2400" dirty="0"/>
              <a:t>, </a:t>
            </a:r>
            <a:r>
              <a:rPr lang="pt-BR" sz="2400" dirty="0" err="1"/>
              <a:t>livro.ano</a:t>
            </a:r>
            <a:r>
              <a:rPr lang="pt-BR" sz="2400" dirty="0"/>
              <a:t>, </a:t>
            </a:r>
            <a:r>
              <a:rPr lang="pt-BR" sz="2400" dirty="0" err="1"/>
              <a:t>livro.edicao</a:t>
            </a:r>
            <a:r>
              <a:rPr lang="pt-BR" sz="2400" dirty="0"/>
              <a:t>, </a:t>
            </a:r>
            <a:r>
              <a:rPr lang="pt-BR" sz="2400" dirty="0" err="1"/>
              <a:t>autor.nome_completo</a:t>
            </a:r>
            <a:r>
              <a:rPr lang="pt-BR" sz="2400" dirty="0"/>
              <a:t>, </a:t>
            </a:r>
            <a:r>
              <a:rPr lang="pt-BR" sz="2400" dirty="0" err="1"/>
              <a:t>autor.nome</a:t>
            </a:r>
            <a:r>
              <a:rPr lang="pt-BR" sz="2400" dirty="0"/>
              <a:t>, </a:t>
            </a:r>
            <a:r>
              <a:rPr lang="pt-BR" sz="2400" dirty="0" err="1"/>
              <a:t>autor.sobrenome</a:t>
            </a:r>
            <a:r>
              <a:rPr lang="pt-BR" sz="2400" dirty="0"/>
              <a:t> FROM livro JOIN autor ON </a:t>
            </a:r>
            <a:r>
              <a:rPr lang="pt-BR" sz="2400" dirty="0" err="1"/>
              <a:t>autor.id_autor</a:t>
            </a:r>
            <a:r>
              <a:rPr lang="pt-BR" sz="2400" dirty="0"/>
              <a:t> = </a:t>
            </a:r>
            <a:r>
              <a:rPr lang="pt-BR" sz="2400" dirty="0" err="1"/>
              <a:t>livro.codigo_autor</a:t>
            </a:r>
            <a:r>
              <a:rPr lang="pt-BR" sz="2400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84368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editora, não mostrando os identificadores</a:t>
            </a:r>
          </a:p>
        </p:txBody>
      </p:sp>
    </p:spTree>
    <p:extLst>
      <p:ext uri="{BB962C8B-B14F-4D97-AF65-F5344CB8AC3E}">
        <p14:creationId xmlns:p14="http://schemas.microsoft.com/office/powerpoint/2010/main" val="4003652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9291" y="2778268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SELECT </a:t>
            </a:r>
            <a:r>
              <a:rPr lang="en-US" b="1" i="1" dirty="0" err="1"/>
              <a:t>livro.nome</a:t>
            </a:r>
            <a:r>
              <a:rPr lang="en-US" b="1" i="1" dirty="0"/>
              <a:t>, </a:t>
            </a:r>
            <a:r>
              <a:rPr lang="en-US" b="1" i="1" dirty="0" err="1"/>
              <a:t>livro.ano</a:t>
            </a:r>
            <a:r>
              <a:rPr lang="en-US" b="1" i="1" dirty="0"/>
              <a:t>, </a:t>
            </a:r>
            <a:r>
              <a:rPr lang="en-US" b="1" i="1" dirty="0" err="1"/>
              <a:t>livro.edicao</a:t>
            </a:r>
            <a:r>
              <a:rPr lang="en-US" b="1" i="1" dirty="0"/>
              <a:t>, </a:t>
            </a:r>
            <a:r>
              <a:rPr lang="en-US" b="1" i="1" dirty="0" err="1"/>
              <a:t>genero.nome</a:t>
            </a:r>
            <a:r>
              <a:rPr lang="en-US" b="1" i="1" dirty="0"/>
              <a:t>, </a:t>
            </a:r>
            <a:r>
              <a:rPr lang="en-US" b="1" i="1" dirty="0" err="1"/>
              <a:t>genero.sigla</a:t>
            </a:r>
            <a:r>
              <a:rPr lang="en-US" b="1" i="1" dirty="0"/>
              <a:t> FROM </a:t>
            </a:r>
            <a:r>
              <a:rPr lang="en-US" b="1" i="1" dirty="0" err="1"/>
              <a:t>livro</a:t>
            </a:r>
            <a:r>
              <a:rPr lang="en-US" b="1" i="1" dirty="0"/>
              <a:t> JOIN </a:t>
            </a:r>
            <a:r>
              <a:rPr lang="en-US" b="1" i="1" dirty="0" err="1"/>
              <a:t>genero</a:t>
            </a:r>
            <a:r>
              <a:rPr lang="en-US" b="1" i="1" dirty="0"/>
              <a:t> ON </a:t>
            </a:r>
            <a:r>
              <a:rPr lang="en-US" b="1" i="1" dirty="0" err="1"/>
              <a:t>genero.id_genero</a:t>
            </a:r>
            <a:r>
              <a:rPr lang="en-US" b="1" i="1" dirty="0"/>
              <a:t> = </a:t>
            </a:r>
            <a:r>
              <a:rPr lang="en-US" b="1" i="1" dirty="0" err="1"/>
              <a:t>livro.codigo_genero</a:t>
            </a:r>
            <a:r>
              <a:rPr lang="en-US" b="1" i="1" dirty="0"/>
              <a:t>;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84368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</a:t>
            </a:r>
            <a:r>
              <a:rPr lang="pt-BR" sz="2800" dirty="0" err="1"/>
              <a:t>genero</a:t>
            </a:r>
            <a:r>
              <a:rPr lang="pt-BR" sz="2800" dirty="0"/>
              <a:t>, não mostrando os identificadores</a:t>
            </a:r>
          </a:p>
        </p:txBody>
      </p:sp>
    </p:spTree>
    <p:extLst>
      <p:ext uri="{BB962C8B-B14F-4D97-AF65-F5344CB8AC3E}">
        <p14:creationId xmlns:p14="http://schemas.microsoft.com/office/powerpoint/2010/main" val="776573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3429000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/>
              <a:t>SELECT </a:t>
            </a:r>
            <a:r>
              <a:rPr lang="pt-BR" b="1" i="1" dirty="0" err="1"/>
              <a:t>livro.nome</a:t>
            </a:r>
            <a:r>
              <a:rPr lang="pt-BR" b="1" i="1" dirty="0"/>
              <a:t> as Livro, </a:t>
            </a:r>
            <a:r>
              <a:rPr lang="pt-BR" b="1" i="1" dirty="0" err="1"/>
              <a:t>livro.ano</a:t>
            </a:r>
            <a:r>
              <a:rPr lang="pt-BR" b="1" i="1" dirty="0"/>
              <a:t> as 'Ano de publicação', </a:t>
            </a:r>
            <a:r>
              <a:rPr lang="pt-BR" b="1" i="1" dirty="0" err="1"/>
              <a:t>livro.edicao</a:t>
            </a:r>
            <a:r>
              <a:rPr lang="pt-BR" b="1" i="1" dirty="0"/>
              <a:t> as Edição, </a:t>
            </a:r>
            <a:r>
              <a:rPr lang="pt-BR" b="1" i="1" dirty="0" err="1"/>
              <a:t>editora.nome</a:t>
            </a:r>
            <a:r>
              <a:rPr lang="pt-BR" b="1" i="1" dirty="0"/>
              <a:t> as Editora FROM livro JOIN editora ON </a:t>
            </a:r>
            <a:r>
              <a:rPr lang="pt-BR" b="1" i="1" dirty="0" err="1"/>
              <a:t>editora.id_editora</a:t>
            </a:r>
            <a:r>
              <a:rPr lang="pt-BR" b="1" i="1" dirty="0"/>
              <a:t> = </a:t>
            </a:r>
            <a:r>
              <a:rPr lang="pt-BR" b="1" i="1" dirty="0" err="1"/>
              <a:t>livro.codigo_editora</a:t>
            </a:r>
            <a:r>
              <a:rPr lang="pt-BR" b="1" i="1" dirty="0"/>
              <a:t>;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2479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editora, não mostrando os identificadores e modificando a forma como será mostrado para o usuário o nome das colunas da tabela</a:t>
            </a:r>
          </a:p>
        </p:txBody>
      </p:sp>
    </p:spTree>
    <p:extLst>
      <p:ext uri="{BB962C8B-B14F-4D97-AF65-F5344CB8AC3E}">
        <p14:creationId xmlns:p14="http://schemas.microsoft.com/office/powerpoint/2010/main" val="561336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3429000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/>
              <a:t>SELECT </a:t>
            </a:r>
            <a:r>
              <a:rPr lang="pt-BR" b="1" i="1" dirty="0" err="1"/>
              <a:t>livro.nome</a:t>
            </a:r>
            <a:r>
              <a:rPr lang="pt-BR" b="1" i="1" dirty="0"/>
              <a:t> as Livro, </a:t>
            </a:r>
            <a:r>
              <a:rPr lang="pt-BR" b="1" i="1" dirty="0" err="1"/>
              <a:t>livro.ano</a:t>
            </a:r>
            <a:r>
              <a:rPr lang="pt-BR" b="1" i="1" dirty="0"/>
              <a:t> as 'Ano de Publicação', </a:t>
            </a:r>
            <a:r>
              <a:rPr lang="pt-BR" b="1" i="1" dirty="0" err="1"/>
              <a:t>livro.edicao</a:t>
            </a:r>
            <a:r>
              <a:rPr lang="pt-BR" b="1" i="1" dirty="0"/>
              <a:t> as Edição, </a:t>
            </a:r>
            <a:r>
              <a:rPr lang="pt-BR" b="1" i="1" dirty="0" err="1"/>
              <a:t>autor.nome_completo</a:t>
            </a:r>
            <a:r>
              <a:rPr lang="pt-BR" b="1" i="1" dirty="0"/>
              <a:t> as 'Nome Completo', </a:t>
            </a:r>
            <a:r>
              <a:rPr lang="pt-BR" b="1" i="1" dirty="0" err="1"/>
              <a:t>autor.nome</a:t>
            </a:r>
            <a:r>
              <a:rPr lang="pt-BR" b="1" i="1" dirty="0"/>
              <a:t> as Nome, </a:t>
            </a:r>
            <a:r>
              <a:rPr lang="pt-BR" b="1" i="1" dirty="0" err="1"/>
              <a:t>autor.sobrenome</a:t>
            </a:r>
            <a:r>
              <a:rPr lang="pt-BR" b="1" i="1" dirty="0"/>
              <a:t> as Sobrenome FROM livro JOIN autor ON </a:t>
            </a:r>
            <a:r>
              <a:rPr lang="pt-BR" b="1" i="1" dirty="0" err="1"/>
              <a:t>autor.id_autor</a:t>
            </a:r>
            <a:r>
              <a:rPr lang="pt-BR" b="1" i="1" dirty="0"/>
              <a:t> = </a:t>
            </a:r>
            <a:r>
              <a:rPr lang="pt-BR" b="1" i="1" dirty="0" err="1"/>
              <a:t>livro.codigo_autor</a:t>
            </a:r>
            <a:r>
              <a:rPr lang="pt-BR" b="1" i="1" dirty="0"/>
              <a:t>;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2479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autor, não mostrando os identificadores e modificando a forma como será mostrado para o usuário o nome das colunas da tabela</a:t>
            </a:r>
          </a:p>
        </p:txBody>
      </p:sp>
    </p:spTree>
    <p:extLst>
      <p:ext uri="{BB962C8B-B14F-4D97-AF65-F5344CB8AC3E}">
        <p14:creationId xmlns:p14="http://schemas.microsoft.com/office/powerpoint/2010/main" val="1643201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3429000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/>
              <a:t>SELECT </a:t>
            </a:r>
            <a:r>
              <a:rPr lang="pt-BR" b="1" i="1" dirty="0" err="1"/>
              <a:t>livro.nome</a:t>
            </a:r>
            <a:r>
              <a:rPr lang="pt-BR" b="1" i="1" dirty="0"/>
              <a:t> as Livro, </a:t>
            </a:r>
            <a:r>
              <a:rPr lang="pt-BR" b="1" i="1" dirty="0" err="1"/>
              <a:t>livro.ano</a:t>
            </a:r>
            <a:r>
              <a:rPr lang="pt-BR" b="1" i="1" dirty="0"/>
              <a:t> as 'Ano de publicação', </a:t>
            </a:r>
            <a:r>
              <a:rPr lang="pt-BR" b="1" i="1" dirty="0" err="1"/>
              <a:t>livro.edicao</a:t>
            </a:r>
            <a:r>
              <a:rPr lang="pt-BR" b="1" i="1" dirty="0"/>
              <a:t> as Edição, </a:t>
            </a:r>
            <a:r>
              <a:rPr lang="pt-BR" b="1" i="1" dirty="0" err="1"/>
              <a:t>genero.nome</a:t>
            </a:r>
            <a:r>
              <a:rPr lang="pt-BR" b="1" i="1" dirty="0"/>
              <a:t> as Gênero, </a:t>
            </a:r>
            <a:r>
              <a:rPr lang="pt-BR" b="1" i="1" dirty="0" err="1"/>
              <a:t>genero.sigla</a:t>
            </a:r>
            <a:r>
              <a:rPr lang="pt-BR" b="1" i="1" dirty="0"/>
              <a:t> FROM livro JOIN </a:t>
            </a:r>
            <a:r>
              <a:rPr lang="pt-BR" b="1" i="1" dirty="0" err="1"/>
              <a:t>genero</a:t>
            </a:r>
            <a:r>
              <a:rPr lang="pt-BR" b="1" i="1" dirty="0"/>
              <a:t> ON </a:t>
            </a:r>
            <a:r>
              <a:rPr lang="pt-BR" b="1" i="1" dirty="0" err="1"/>
              <a:t>genero.id_genero</a:t>
            </a:r>
            <a:r>
              <a:rPr lang="pt-BR" b="1" i="1" dirty="0"/>
              <a:t> = </a:t>
            </a:r>
            <a:r>
              <a:rPr lang="pt-BR" b="1" i="1" dirty="0" err="1"/>
              <a:t>livro.codigo_genero</a:t>
            </a:r>
            <a:r>
              <a:rPr lang="pt-BR" b="1" i="1" dirty="0"/>
              <a:t>;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2479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</a:t>
            </a:r>
            <a:r>
              <a:rPr lang="pt-BR" sz="2800" dirty="0" err="1"/>
              <a:t>genero</a:t>
            </a:r>
            <a:r>
              <a:rPr lang="pt-BR" sz="2800" dirty="0"/>
              <a:t>, não mostrando os identificadores e modificando a forma como será mostrado para o usuário o nome das colunas da tabela</a:t>
            </a:r>
          </a:p>
        </p:txBody>
      </p:sp>
    </p:spTree>
    <p:extLst>
      <p:ext uri="{BB962C8B-B14F-4D97-AF65-F5344CB8AC3E}">
        <p14:creationId xmlns:p14="http://schemas.microsoft.com/office/powerpoint/2010/main" val="3841696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3429000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/>
              <a:t>SELECT </a:t>
            </a:r>
            <a:r>
              <a:rPr lang="pt-BR" b="1" i="1" dirty="0" err="1"/>
              <a:t>l.nome</a:t>
            </a:r>
            <a:r>
              <a:rPr lang="pt-BR" b="1" i="1" dirty="0"/>
              <a:t> as Livro, </a:t>
            </a:r>
            <a:r>
              <a:rPr lang="pt-BR" b="1" i="1" dirty="0" err="1"/>
              <a:t>l.ano</a:t>
            </a:r>
            <a:r>
              <a:rPr lang="pt-BR" b="1" i="1" dirty="0"/>
              <a:t> as 'Ano de publicação', </a:t>
            </a:r>
            <a:r>
              <a:rPr lang="pt-BR" b="1" i="1" dirty="0" err="1"/>
              <a:t>l.edicao</a:t>
            </a:r>
            <a:r>
              <a:rPr lang="pt-BR" b="1" i="1" dirty="0"/>
              <a:t> as Edição, </a:t>
            </a:r>
            <a:r>
              <a:rPr lang="pt-BR" b="1" i="1" dirty="0" err="1"/>
              <a:t>e.nome</a:t>
            </a:r>
            <a:r>
              <a:rPr lang="pt-BR" b="1" i="1" dirty="0"/>
              <a:t> as Editora </a:t>
            </a:r>
          </a:p>
          <a:p>
            <a:pPr marL="0" indent="0">
              <a:buNone/>
            </a:pPr>
            <a:r>
              <a:rPr lang="pt-BR" b="1" i="1" dirty="0"/>
              <a:t>FROM livro l </a:t>
            </a:r>
          </a:p>
          <a:p>
            <a:pPr marL="0" indent="0">
              <a:buNone/>
            </a:pPr>
            <a:r>
              <a:rPr lang="pt-BR" b="1" i="1" dirty="0"/>
              <a:t>JOIN editora e ON </a:t>
            </a:r>
            <a:r>
              <a:rPr lang="pt-BR" b="1" i="1" dirty="0" err="1"/>
              <a:t>e.id_editora</a:t>
            </a:r>
            <a:r>
              <a:rPr lang="pt-BR" b="1" i="1" dirty="0"/>
              <a:t> = </a:t>
            </a:r>
            <a:r>
              <a:rPr lang="pt-BR" b="1" i="1" dirty="0" err="1"/>
              <a:t>l.codigo_editora</a:t>
            </a:r>
            <a:r>
              <a:rPr lang="pt-BR" b="1" i="1" dirty="0"/>
              <a:t>;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#No código será modificado a forma de chamar o nome da tabela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2479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editora, não mostrando os identificadores, modificando a forma como será mostrado para o usuário o nome das colunas da tabela</a:t>
            </a:r>
          </a:p>
        </p:txBody>
      </p:sp>
    </p:spTree>
    <p:extLst>
      <p:ext uri="{BB962C8B-B14F-4D97-AF65-F5344CB8AC3E}">
        <p14:creationId xmlns:p14="http://schemas.microsoft.com/office/powerpoint/2010/main" val="2742959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3429000"/>
            <a:ext cx="11569549" cy="27081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/>
              <a:t>SELECT </a:t>
            </a:r>
            <a:r>
              <a:rPr lang="pt-BR" b="1" i="1" dirty="0" err="1"/>
              <a:t>l.nome</a:t>
            </a:r>
            <a:r>
              <a:rPr lang="pt-BR" b="1" i="1" dirty="0"/>
              <a:t> as Livro, </a:t>
            </a:r>
            <a:r>
              <a:rPr lang="pt-BR" b="1" i="1" dirty="0" err="1"/>
              <a:t>l.ano</a:t>
            </a:r>
            <a:r>
              <a:rPr lang="pt-BR" b="1" i="1" dirty="0"/>
              <a:t> as 'Ano de Publicação', </a:t>
            </a:r>
            <a:r>
              <a:rPr lang="pt-BR" b="1" i="1" dirty="0" err="1"/>
              <a:t>l.edicao</a:t>
            </a:r>
            <a:r>
              <a:rPr lang="pt-BR" b="1" i="1" dirty="0"/>
              <a:t> as Edição, </a:t>
            </a:r>
            <a:r>
              <a:rPr lang="pt-BR" b="1" i="1" dirty="0" err="1"/>
              <a:t>a.nome_completo</a:t>
            </a:r>
            <a:r>
              <a:rPr lang="pt-BR" b="1" i="1" dirty="0"/>
              <a:t> as 'Nome Completo', </a:t>
            </a:r>
            <a:r>
              <a:rPr lang="pt-BR" b="1" i="1" dirty="0" err="1"/>
              <a:t>a.nome</a:t>
            </a:r>
            <a:r>
              <a:rPr lang="pt-BR" b="1" i="1" dirty="0"/>
              <a:t> as Nome, </a:t>
            </a:r>
            <a:r>
              <a:rPr lang="pt-BR" b="1" i="1" dirty="0" err="1"/>
              <a:t>a.sobrenome</a:t>
            </a:r>
            <a:r>
              <a:rPr lang="pt-BR" b="1" i="1" dirty="0"/>
              <a:t> as Sobrenome </a:t>
            </a:r>
          </a:p>
          <a:p>
            <a:pPr marL="0" indent="0">
              <a:buNone/>
            </a:pPr>
            <a:r>
              <a:rPr lang="pt-BR" b="1" i="1" dirty="0"/>
              <a:t>FROM livro l </a:t>
            </a:r>
          </a:p>
          <a:p>
            <a:pPr marL="0" indent="0">
              <a:buNone/>
            </a:pPr>
            <a:r>
              <a:rPr lang="pt-BR" b="1" i="1" dirty="0"/>
              <a:t>JOIN autor a ON </a:t>
            </a:r>
            <a:r>
              <a:rPr lang="pt-BR" b="1" i="1" dirty="0" err="1"/>
              <a:t>a.id_autor</a:t>
            </a:r>
            <a:r>
              <a:rPr lang="pt-BR" b="1" i="1" dirty="0"/>
              <a:t> = </a:t>
            </a:r>
            <a:r>
              <a:rPr lang="pt-BR" b="1" i="1" dirty="0" err="1"/>
              <a:t>l.codigo_autor</a:t>
            </a:r>
            <a:r>
              <a:rPr lang="pt-BR" b="1" i="1" dirty="0"/>
              <a:t>;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#No código será modificado a forma de chamar o nome da tabela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2479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autor, não mostrando os identificadores, modificando a forma como será mostrado para o usuário o nome das colunas da tabela</a:t>
            </a:r>
          </a:p>
        </p:txBody>
      </p:sp>
    </p:spTree>
    <p:extLst>
      <p:ext uri="{BB962C8B-B14F-4D97-AF65-F5344CB8AC3E}">
        <p14:creationId xmlns:p14="http://schemas.microsoft.com/office/powerpoint/2010/main" val="2758665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 de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925" y="3429000"/>
            <a:ext cx="11569549" cy="2708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/>
              <a:t>SELECT </a:t>
            </a:r>
            <a:r>
              <a:rPr lang="pt-BR" b="1" i="1" dirty="0" err="1"/>
              <a:t>l.nome</a:t>
            </a:r>
            <a:r>
              <a:rPr lang="pt-BR" b="1" i="1" dirty="0"/>
              <a:t> as Livro, </a:t>
            </a:r>
            <a:r>
              <a:rPr lang="pt-BR" b="1" i="1" dirty="0" err="1"/>
              <a:t>l.ano</a:t>
            </a:r>
            <a:r>
              <a:rPr lang="pt-BR" b="1" i="1" dirty="0"/>
              <a:t> as 'Ano de publicação', </a:t>
            </a:r>
            <a:r>
              <a:rPr lang="pt-BR" b="1" i="1" dirty="0" err="1"/>
              <a:t>l.edicao</a:t>
            </a:r>
            <a:r>
              <a:rPr lang="pt-BR" b="1" i="1" dirty="0"/>
              <a:t> as Edição, </a:t>
            </a:r>
            <a:r>
              <a:rPr lang="pt-BR" b="1" i="1" dirty="0" err="1"/>
              <a:t>g.nome</a:t>
            </a:r>
            <a:r>
              <a:rPr lang="pt-BR" b="1" i="1" dirty="0"/>
              <a:t> as Gênero, </a:t>
            </a:r>
            <a:r>
              <a:rPr lang="pt-BR" b="1" i="1" dirty="0" err="1"/>
              <a:t>g.sigla</a:t>
            </a:r>
            <a:r>
              <a:rPr lang="pt-BR" b="1" i="1" dirty="0"/>
              <a:t> </a:t>
            </a:r>
          </a:p>
          <a:p>
            <a:pPr marL="0" indent="0">
              <a:buNone/>
            </a:pPr>
            <a:r>
              <a:rPr lang="pt-BR" b="1" i="1" dirty="0"/>
              <a:t>FROM livro l </a:t>
            </a:r>
          </a:p>
          <a:p>
            <a:pPr marL="0" indent="0">
              <a:buNone/>
            </a:pPr>
            <a:r>
              <a:rPr lang="pt-BR" b="1" i="1" dirty="0"/>
              <a:t>JOIN </a:t>
            </a:r>
            <a:r>
              <a:rPr lang="pt-BR" b="1" i="1" dirty="0" err="1"/>
              <a:t>genero</a:t>
            </a:r>
            <a:r>
              <a:rPr lang="pt-BR" b="1" i="1" dirty="0"/>
              <a:t> g ON </a:t>
            </a:r>
            <a:r>
              <a:rPr lang="pt-BR" b="1" i="1" dirty="0" err="1"/>
              <a:t>g.id_genero</a:t>
            </a:r>
            <a:r>
              <a:rPr lang="pt-BR" b="1" i="1" dirty="0"/>
              <a:t> = </a:t>
            </a:r>
            <a:r>
              <a:rPr lang="pt-BR" b="1" i="1" dirty="0" err="1"/>
              <a:t>l.codigo_genero</a:t>
            </a:r>
            <a:r>
              <a:rPr lang="pt-BR" b="1" i="1" dirty="0"/>
              <a:t>;</a:t>
            </a:r>
          </a:p>
          <a:p>
            <a:pPr marL="0" indent="0">
              <a:buNone/>
            </a:pPr>
            <a:endParaRPr lang="pt-BR" sz="2400" b="1" i="1" dirty="0"/>
          </a:p>
          <a:p>
            <a:pPr marL="0" indent="0">
              <a:buNone/>
            </a:pPr>
            <a:r>
              <a:rPr lang="pt-BR" sz="2400" b="1" i="1" dirty="0"/>
              <a:t>#No código será modificado a forma de chamar o nome da tabela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609480" y="1632443"/>
            <a:ext cx="102479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</a:pPr>
            <a:r>
              <a:rPr lang="pt-BR" sz="2800" dirty="0"/>
              <a:t>#Selecionar a tabela livro com referência na tabela autor, não mostrando os identificadores, modificando a forma como será mostrado para o usuário o nome das colunas da tabela</a:t>
            </a:r>
          </a:p>
        </p:txBody>
      </p:sp>
    </p:spTree>
    <p:extLst>
      <p:ext uri="{BB962C8B-B14F-4D97-AF65-F5344CB8AC3E}">
        <p14:creationId xmlns:p14="http://schemas.microsoft.com/office/powerpoint/2010/main" val="1527879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2480" y="335146"/>
            <a:ext cx="6459535" cy="1144800"/>
          </a:xfrm>
        </p:spPr>
        <p:txBody>
          <a:bodyPr>
            <a:norm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Referências: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417639"/>
            <a:ext cx="8229600" cy="4897759"/>
          </a:xfrm>
        </p:spPr>
        <p:txBody>
          <a:bodyPr>
            <a:noAutofit/>
          </a:bodyPr>
          <a:lstStyle/>
          <a:p>
            <a:pPr>
              <a:buClr>
                <a:srgbClr val="C00000"/>
              </a:buClr>
            </a:pPr>
            <a:r>
              <a:rPr lang="pt-BR" sz="2400" dirty="0"/>
              <a:t>GILLENSON, Mark L. et al. </a:t>
            </a:r>
            <a:r>
              <a:rPr lang="pt-BR" sz="2400" b="1" dirty="0"/>
              <a:t>Introdução à Gerência de Banco de Dados</a:t>
            </a:r>
            <a:r>
              <a:rPr lang="pt-BR" sz="2400" dirty="0"/>
              <a:t>. Rio de Janeiro: LTC, 2009. </a:t>
            </a:r>
          </a:p>
          <a:p>
            <a:pPr>
              <a:buClr>
                <a:srgbClr val="C00000"/>
              </a:buClr>
            </a:pPr>
            <a:r>
              <a:rPr lang="pt-BR" sz="2400" dirty="0"/>
              <a:t>HEUSER, Carlos Alberto. </a:t>
            </a:r>
            <a:r>
              <a:rPr lang="pt-BR" sz="2400" b="1" dirty="0"/>
              <a:t>Projeto de Banco de Dados</a:t>
            </a:r>
            <a:r>
              <a:rPr lang="pt-BR" sz="2400" dirty="0"/>
              <a:t>. Porto Alegre: Bookman, 2009. </a:t>
            </a:r>
          </a:p>
          <a:p>
            <a:pPr>
              <a:buClr>
                <a:srgbClr val="C00000"/>
              </a:buClr>
            </a:pPr>
            <a:r>
              <a:rPr lang="pt-BR" sz="2400" dirty="0"/>
              <a:t>NISHIMURA, Roberto Yukio. </a:t>
            </a:r>
            <a:r>
              <a:rPr lang="pt-BR" sz="2400" b="1" dirty="0"/>
              <a:t>Banco de Dados I</a:t>
            </a:r>
            <a:r>
              <a:rPr lang="pt-BR" sz="2400" dirty="0"/>
              <a:t>. São Paulo: Person Prentice Hall, 2009. </a:t>
            </a:r>
          </a:p>
          <a:p>
            <a:pPr>
              <a:buClr>
                <a:srgbClr val="C00000"/>
              </a:buClr>
            </a:pPr>
            <a:r>
              <a:rPr lang="pt-BR" sz="2400" dirty="0"/>
              <a:t>PRATES, Rubens. </a:t>
            </a:r>
            <a:r>
              <a:rPr lang="pt-BR" sz="2400" b="1" dirty="0"/>
              <a:t>MYSQL – Guia de Consulta Rápida</a:t>
            </a:r>
            <a:r>
              <a:rPr lang="pt-BR" sz="2400" dirty="0"/>
              <a:t>. São Paulo: Novatec, 2000. </a:t>
            </a:r>
          </a:p>
          <a:p>
            <a:pPr>
              <a:buClr>
                <a:srgbClr val="C00000"/>
              </a:buClr>
            </a:pPr>
            <a:r>
              <a:rPr lang="pt-BR" sz="2400" dirty="0"/>
              <a:t>SOFTBLUE. </a:t>
            </a:r>
            <a:r>
              <a:rPr lang="pt-BR" sz="2400" b="1" dirty="0"/>
              <a:t>Curso SQL Completo</a:t>
            </a:r>
            <a:r>
              <a:rPr lang="pt-BR" sz="2400" dirty="0"/>
              <a:t>. Disponível via web em http://www.softblue.com.br/. Acessado em 2015. </a:t>
            </a:r>
          </a:p>
          <a:p>
            <a:pPr>
              <a:buClr>
                <a:srgbClr val="C00000"/>
              </a:buClr>
            </a:pPr>
            <a:r>
              <a:rPr lang="pt-BR" sz="2400" dirty="0"/>
              <a:t>TAKAHASHI, Maná. </a:t>
            </a:r>
            <a:r>
              <a:rPr lang="pt-BR" sz="2400" b="1" dirty="0"/>
              <a:t>Guia Mangá de Banco de Dados</a:t>
            </a:r>
            <a:r>
              <a:rPr lang="pt-BR" sz="2400" dirty="0"/>
              <a:t>. São Paulo: Novatec, 2009. </a:t>
            </a:r>
          </a:p>
        </p:txBody>
      </p:sp>
    </p:spTree>
    <p:extLst>
      <p:ext uri="{BB962C8B-B14F-4D97-AF65-F5344CB8AC3E}">
        <p14:creationId xmlns:p14="http://schemas.microsoft.com/office/powerpoint/2010/main" val="10096273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5050102" cy="13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</a:rPr>
              <a:t>Dúvidas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07" y="1904469"/>
            <a:ext cx="2524477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875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</TotalTime>
  <Words>2615</Words>
  <Application>Microsoft Office PowerPoint</Application>
  <PresentationFormat>Widescreen</PresentationFormat>
  <Paragraphs>241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Arial</vt:lpstr>
      <vt:lpstr>Calibri Light</vt:lpstr>
      <vt:lpstr>Symbol</vt:lpstr>
      <vt:lpstr>Wingdings</vt:lpstr>
      <vt:lpstr>Office Theme</vt:lpstr>
      <vt:lpstr>Office Theme</vt:lpstr>
      <vt:lpstr>Apresentação do PowerPoint</vt:lpstr>
      <vt:lpstr>Chave Estrangeira ( FK )</vt:lpstr>
      <vt:lpstr>Chave Estrangeira ( FK )</vt:lpstr>
      <vt:lpstr>Chave Estrangeira ( FK )</vt:lpstr>
      <vt:lpstr>Chave Estrangeira ( FK )</vt:lpstr>
      <vt:lpstr>Chave Estrangeira ( FK )</vt:lpstr>
      <vt:lpstr>Exemplo do Banco de Dados</vt:lpstr>
      <vt:lpstr>Exemplo do Banco de Dados</vt:lpstr>
      <vt:lpstr>Modelo Relacional do Exemplo do Banco de Dados</vt:lpstr>
      <vt:lpstr>Modelo Relacional do Exemplo do Banco de Dados</vt:lpstr>
      <vt:lpstr>Atualizando a Estrutura da Tabela</vt:lpstr>
      <vt:lpstr>Atualizando a Estrutura da Tabela</vt:lpstr>
      <vt:lpstr>Atualizando a Estrutura da Tabela</vt:lpstr>
      <vt:lpstr>Estudo de caso da biblioteca </vt:lpstr>
      <vt:lpstr>Chave Estrangeira ( FK )</vt:lpstr>
      <vt:lpstr>Estudo de caso da biblioteca </vt:lpstr>
      <vt:lpstr>Estudo de caso da biblioteca </vt:lpstr>
      <vt:lpstr>Estudo de caso da biblioteca </vt:lpstr>
      <vt:lpstr>Estudo de caso da biblioteca </vt:lpstr>
      <vt:lpstr>Estudo de caso da biblioteca 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Exemplo de Banco de Dados</vt:lpstr>
      <vt:lpstr>Referências:</vt:lpstr>
      <vt:lpstr>Apresentação do PowerPoint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109</cp:revision>
  <dcterms:created xsi:type="dcterms:W3CDTF">2019-04-01T17:03:04Z</dcterms:created>
  <dcterms:modified xsi:type="dcterms:W3CDTF">2024-02-19T18:47:48Z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