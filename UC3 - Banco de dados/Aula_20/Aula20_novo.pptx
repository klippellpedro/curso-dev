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sldIdLst>
    <p:sldId id="332" r:id="rId3"/>
    <p:sldId id="299" r:id="rId4"/>
    <p:sldId id="334" r:id="rId5"/>
    <p:sldId id="335" r:id="rId6"/>
    <p:sldId id="350" r:id="rId7"/>
    <p:sldId id="359" r:id="rId8"/>
    <p:sldId id="357" r:id="rId9"/>
    <p:sldId id="351" r:id="rId10"/>
    <p:sldId id="360" r:id="rId11"/>
    <p:sldId id="361" r:id="rId12"/>
    <p:sldId id="362" r:id="rId13"/>
    <p:sldId id="363" r:id="rId14"/>
    <p:sldId id="364" r:id="rId15"/>
    <p:sldId id="365" r:id="rId16"/>
    <p:sldId id="366" r:id="rId17"/>
    <p:sldId id="367" r:id="rId18"/>
    <p:sldId id="368" r:id="rId19"/>
    <p:sldId id="339" r:id="rId20"/>
    <p:sldId id="308" r:id="rId21"/>
  </p:sldIdLst>
  <p:sldSz cx="12192000" cy="6858000"/>
  <p:notesSz cx="7559675" cy="10691813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8" d="100"/>
          <a:sy n="68" d="100"/>
        </p:scale>
        <p:origin x="792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1B96290-B648-4A37-820E-93D934F85DBF}" type="datetimeFigureOut">
              <a:rPr lang="pt-BR" smtClean="0"/>
              <a:pPr/>
              <a:t>12/02/2024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12F969B-143C-47B9-905D-C6D7254BA94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97738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pt-BR" sz="4400" b="0" strike="noStrike" spc="-1">
              <a:latin typeface="Arial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4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5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6" name="PlaceHolder 5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7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  <p:sp>
        <p:nvSpPr>
          <p:cNvPr id="78" name="PlaceHolder 7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pt-BR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B1B96290-B648-4A37-820E-93D934F85DBF}" type="datetimeFigureOut">
              <a:rPr lang="pt-BR" smtClean="0"/>
              <a:pPr/>
              <a:t>12/02/2024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fld id="{A12F969B-143C-47B9-905D-C6D7254BA94D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8885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6" Type="http://schemas.openxmlformats.org/officeDocument/2006/relationships/image" Target="../media/image2.wmf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tIns="0" rIns="0" bIns="0" anchor="ctr"/>
          <a:lstStyle/>
          <a:p>
            <a:r>
              <a:rPr lang="pt-BR" sz="18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18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75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Imagem 6"/>
          <p:cNvPicPr/>
          <p:nvPr/>
        </p:nvPicPr>
        <p:blipFill>
          <a:blip r:embed="rId15"/>
          <a:stretch/>
        </p:blipFill>
        <p:spPr>
          <a:xfrm>
            <a:off x="0" y="0"/>
            <a:ext cx="1412280" cy="911880"/>
          </a:xfrm>
          <a:prstGeom prst="rect">
            <a:avLst/>
          </a:prstGeom>
          <a:ln>
            <a:noFill/>
          </a:ln>
        </p:spPr>
      </p:pic>
      <p:sp>
        <p:nvSpPr>
          <p:cNvPr id="39" name="CustomShape 1"/>
          <p:cNvSpPr/>
          <p:nvPr/>
        </p:nvSpPr>
        <p:spPr>
          <a:xfrm>
            <a:off x="9435960" y="6265080"/>
            <a:ext cx="2754720" cy="33876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90000"/>
              </a:lnSpc>
            </a:pPr>
            <a:r>
              <a:rPr lang="pt-BR" sz="1600" b="1" strike="noStrike" spc="-1" dirty="0">
                <a:solidFill>
                  <a:srgbClr val="005696"/>
                </a:solidFill>
                <a:latin typeface="Arial"/>
                <a:ea typeface="DejaVu Sans"/>
              </a:rPr>
              <a:t>Prof.: Miguel Matiolla</a:t>
            </a:r>
            <a:endParaRPr lang="pt-BR" sz="1600" b="0" strike="noStrike" spc="-1" dirty="0">
              <a:latin typeface="Arial"/>
            </a:endParaRPr>
          </a:p>
        </p:txBody>
      </p:sp>
      <p:pic>
        <p:nvPicPr>
          <p:cNvPr id="40" name="Imagem 8"/>
          <p:cNvPicPr/>
          <p:nvPr/>
        </p:nvPicPr>
        <p:blipFill>
          <a:blip r:embed="rId16"/>
          <a:stretch/>
        </p:blipFill>
        <p:spPr>
          <a:xfrm>
            <a:off x="10269000" y="5393160"/>
            <a:ext cx="1303200" cy="761040"/>
          </a:xfrm>
          <a:prstGeom prst="rect">
            <a:avLst/>
          </a:prstGeom>
          <a:ln>
            <a:noFill/>
          </a:ln>
        </p:spPr>
      </p:pic>
      <p:sp>
        <p:nvSpPr>
          <p:cNvPr id="41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pt-BR" sz="4400" b="0" strike="noStrike" spc="-1">
                <a:latin typeface="Arial"/>
              </a:rPr>
              <a:t>Clique para editar o formato do texto do título</a:t>
            </a: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strike="noStrike" spc="-1">
                <a:latin typeface="Arial"/>
              </a:rPr>
              <a:t>Clique para editar o formato do texto da estrutura de tópicos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800" b="0" strike="noStrike" spc="-1">
                <a:latin typeface="Arial"/>
              </a:rPr>
              <a:t>2.º nível da estrutura de tópicos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400" b="0" strike="noStrike" spc="-1">
                <a:latin typeface="Arial"/>
              </a:rPr>
              <a:t>3.º nível da estrutura de tópicos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strike="noStrike" spc="-1">
                <a:latin typeface="Arial"/>
              </a:rPr>
              <a:t>4.º nível da estrutura de tópicos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5.º nível da estrutura de tópicos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6.º nível da estrutura de tópicos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strike="noStrike" spc="-1">
                <a:latin typeface="Arial"/>
              </a:rPr>
              <a:t>7.º nível da estrutura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3304" y="645840"/>
            <a:ext cx="8353425" cy="4619625"/>
          </a:xfrm>
          <a:prstGeom prst="rect">
            <a:avLst/>
          </a:prstGeom>
        </p:spPr>
      </p:pic>
      <p:sp>
        <p:nvSpPr>
          <p:cNvPr id="80" name="CustomShape 2"/>
          <p:cNvSpPr/>
          <p:nvPr/>
        </p:nvSpPr>
        <p:spPr>
          <a:xfrm>
            <a:off x="2872440" y="5980320"/>
            <a:ext cx="6191640" cy="718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 algn="ctr">
              <a:lnSpc>
                <a:spcPct val="100000"/>
              </a:lnSpc>
              <a:spcBef>
                <a:spcPts val="799"/>
              </a:spcBef>
            </a:pPr>
            <a:r>
              <a:rPr lang="pt-BR" sz="4000" b="1" strike="noStrike" spc="-1" dirty="0">
                <a:solidFill>
                  <a:srgbClr val="005696"/>
                </a:solidFill>
                <a:latin typeface="Calibri Light"/>
                <a:ea typeface="DejaVu Sans"/>
              </a:rPr>
              <a:t>Prof.: </a:t>
            </a:r>
            <a:r>
              <a:rPr lang="pt-BR" sz="4000" b="1" spc="-1" dirty="0">
                <a:solidFill>
                  <a:srgbClr val="005696"/>
                </a:solidFill>
                <a:latin typeface="Calibri Light"/>
                <a:ea typeface="DejaVu Sans"/>
              </a:rPr>
              <a:t>Miguel Matiolla</a:t>
            </a:r>
            <a:endParaRPr lang="pt-BR" sz="4000" b="0" strike="noStrike" spc="-1" dirty="0">
              <a:latin typeface="Arial"/>
            </a:endParaRPr>
          </a:p>
        </p:txBody>
      </p:sp>
      <p:sp>
        <p:nvSpPr>
          <p:cNvPr id="82" name="CustomShape 3"/>
          <p:cNvSpPr/>
          <p:nvPr/>
        </p:nvSpPr>
        <p:spPr>
          <a:xfrm>
            <a:off x="1106640" y="514800"/>
            <a:ext cx="7337880" cy="100404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/>
          <a:lstStyle/>
          <a:p>
            <a:pPr>
              <a:lnSpc>
                <a:spcPct val="100000"/>
              </a:lnSpc>
            </a:pPr>
            <a:r>
              <a:rPr lang="pt-BR" sz="6000" b="1" strike="noStrike" spc="-1" dirty="0">
                <a:solidFill>
                  <a:srgbClr val="005696"/>
                </a:solidFill>
                <a:latin typeface="Calibri Light"/>
                <a:ea typeface="DejaVu Sans"/>
              </a:rPr>
              <a:t>Modelagem</a:t>
            </a:r>
            <a:endParaRPr lang="pt-BR" sz="6000" b="0" strike="noStrike" spc="-1" dirty="0">
              <a:latin typeface="Arial"/>
            </a:endParaRPr>
          </a:p>
        </p:txBody>
      </p:sp>
      <p:pic>
        <p:nvPicPr>
          <p:cNvPr id="83" name="Imagem 3"/>
          <p:cNvPicPr/>
          <p:nvPr/>
        </p:nvPicPr>
        <p:blipFill>
          <a:blip r:embed="rId3"/>
          <a:stretch/>
        </p:blipFill>
        <p:spPr>
          <a:xfrm>
            <a:off x="9316440" y="144000"/>
            <a:ext cx="2578680" cy="1505880"/>
          </a:xfrm>
          <a:prstGeom prst="rect">
            <a:avLst/>
          </a:prstGeom>
          <a:ln>
            <a:noFill/>
          </a:ln>
        </p:spPr>
      </p:pic>
      <p:sp>
        <p:nvSpPr>
          <p:cNvPr id="8" name="Subtítulo 2"/>
          <p:cNvSpPr txBox="1">
            <a:spLocks/>
          </p:cNvSpPr>
          <p:nvPr/>
        </p:nvSpPr>
        <p:spPr>
          <a:xfrm>
            <a:off x="818148" y="5260240"/>
            <a:ext cx="10315158" cy="72008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SzPct val="45000"/>
              <a:buFont typeface="Wingdings" pitchFamily="2" charset="2"/>
              <a:buNone/>
              <a:defRPr sz="3200" b="1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SzPct val="60000"/>
              <a:buFontTx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44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Modelagem – </a:t>
            </a:r>
            <a:r>
              <a:rPr lang="pt-BR" sz="440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+mj-ea"/>
              </a:rPr>
              <a:t>Aula 20</a:t>
            </a:r>
            <a:endParaRPr lang="pt-BR" sz="4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  <a:p>
            <a:endParaRPr lang="pt-BR" sz="44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597841248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Criação de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981200" y="1600200"/>
            <a:ext cx="8229600" cy="4565104"/>
          </a:xfrm>
        </p:spPr>
        <p:txBody>
          <a:bodyPr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#Criar o banco de dados</a:t>
            </a:r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CREATE DATABASE </a:t>
            </a:r>
            <a:r>
              <a:rPr lang="es-ES" sz="3000" dirty="0" err="1"/>
              <a:t>senac_veiculos</a:t>
            </a:r>
            <a:r>
              <a:rPr lang="es-ES" sz="3000" dirty="0"/>
              <a:t>; 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USE </a:t>
            </a:r>
            <a:r>
              <a:rPr lang="es-ES" sz="3000" dirty="0" err="1"/>
              <a:t>senac_veiculos</a:t>
            </a:r>
            <a:r>
              <a:rPr lang="es-ES" sz="3000" dirty="0"/>
              <a:t>;</a:t>
            </a:r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2015953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Criação de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600200"/>
            <a:ext cx="10452220" cy="4565104"/>
          </a:xfrm>
        </p:spPr>
        <p:txBody>
          <a:bodyPr>
            <a:normAutofit fontScale="55000" lnSpcReduction="20000"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#Criar a </a:t>
            </a:r>
            <a:r>
              <a:rPr lang="es-ES" sz="3000" dirty="0" err="1"/>
              <a:t>tabela</a:t>
            </a:r>
            <a:r>
              <a:rPr lang="es-ES" sz="3000" dirty="0"/>
              <a:t> cliente</a:t>
            </a:r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dirty="0"/>
              <a:t>CREATE TABLE cliente(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dirty="0"/>
              <a:t>	</a:t>
            </a:r>
            <a:r>
              <a:rPr lang="es-ES" dirty="0" err="1"/>
              <a:t>id_cliente</a:t>
            </a:r>
            <a:r>
              <a:rPr lang="es-ES" dirty="0"/>
              <a:t> </a:t>
            </a:r>
            <a:r>
              <a:rPr lang="es-ES" dirty="0" err="1"/>
              <a:t>int</a:t>
            </a:r>
            <a:r>
              <a:rPr lang="es-ES" dirty="0"/>
              <a:t> </a:t>
            </a:r>
            <a:r>
              <a:rPr lang="es-ES" dirty="0" err="1"/>
              <a:t>primary</a:t>
            </a:r>
            <a:r>
              <a:rPr lang="es-ES" dirty="0"/>
              <a:t> </a:t>
            </a:r>
            <a:r>
              <a:rPr lang="es-ES" dirty="0" err="1"/>
              <a:t>key</a:t>
            </a:r>
            <a:r>
              <a:rPr lang="es-ES" dirty="0"/>
              <a:t> </a:t>
            </a:r>
            <a:r>
              <a:rPr lang="es-ES" dirty="0" err="1"/>
              <a:t>auto_increment</a:t>
            </a:r>
            <a:r>
              <a:rPr lang="es-ES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dirty="0"/>
              <a:t>	</a:t>
            </a:r>
            <a:r>
              <a:rPr lang="es-ES" dirty="0" err="1"/>
              <a:t>nome</a:t>
            </a:r>
            <a:r>
              <a:rPr lang="es-ES" dirty="0"/>
              <a:t> </a:t>
            </a:r>
            <a:r>
              <a:rPr lang="es-ES" dirty="0" err="1"/>
              <a:t>varchar</a:t>
            </a:r>
            <a:r>
              <a:rPr lang="es-ES" dirty="0"/>
              <a:t> (50)</a:t>
            </a:r>
            <a:r>
              <a:rPr lang="es-ES" dirty="0" err="1"/>
              <a:t>not</a:t>
            </a:r>
            <a:r>
              <a:rPr lang="es-ES" dirty="0"/>
              <a:t> </a:t>
            </a:r>
            <a:r>
              <a:rPr lang="es-ES" dirty="0" err="1"/>
              <a:t>null</a:t>
            </a:r>
            <a:r>
              <a:rPr lang="es-ES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dirty="0"/>
              <a:t>	</a:t>
            </a:r>
            <a:r>
              <a:rPr lang="es-ES" dirty="0" err="1"/>
              <a:t>sobrenome</a:t>
            </a:r>
            <a:r>
              <a:rPr lang="es-ES" dirty="0"/>
              <a:t> </a:t>
            </a:r>
            <a:r>
              <a:rPr lang="es-ES" dirty="0" err="1"/>
              <a:t>varchar</a:t>
            </a:r>
            <a:r>
              <a:rPr lang="es-ES" dirty="0"/>
              <a:t>(50) </a:t>
            </a:r>
            <a:r>
              <a:rPr lang="es-ES" dirty="0" err="1"/>
              <a:t>not</a:t>
            </a:r>
            <a:r>
              <a:rPr lang="es-ES" dirty="0"/>
              <a:t> </a:t>
            </a:r>
            <a:r>
              <a:rPr lang="es-ES" dirty="0" err="1"/>
              <a:t>null</a:t>
            </a:r>
            <a:r>
              <a:rPr lang="es-ES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dirty="0"/>
              <a:t>	</a:t>
            </a:r>
            <a:r>
              <a:rPr lang="es-ES" dirty="0" err="1"/>
              <a:t>endereco</a:t>
            </a:r>
            <a:r>
              <a:rPr lang="es-ES" dirty="0"/>
              <a:t> </a:t>
            </a:r>
            <a:r>
              <a:rPr lang="es-ES" dirty="0" err="1"/>
              <a:t>varchar</a:t>
            </a:r>
            <a:r>
              <a:rPr lang="es-ES" dirty="0"/>
              <a:t>(50) </a:t>
            </a:r>
            <a:r>
              <a:rPr lang="es-ES" dirty="0" err="1"/>
              <a:t>not</a:t>
            </a:r>
            <a:r>
              <a:rPr lang="es-ES" dirty="0"/>
              <a:t> </a:t>
            </a:r>
            <a:r>
              <a:rPr lang="es-ES" dirty="0" err="1"/>
              <a:t>null</a:t>
            </a:r>
            <a:r>
              <a:rPr lang="es-ES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dirty="0"/>
              <a:t>	</a:t>
            </a:r>
            <a:r>
              <a:rPr lang="es-ES" dirty="0" err="1"/>
              <a:t>bairro</a:t>
            </a:r>
            <a:r>
              <a:rPr lang="es-ES" dirty="0"/>
              <a:t> </a:t>
            </a:r>
            <a:r>
              <a:rPr lang="es-ES" dirty="0" err="1"/>
              <a:t>varchar</a:t>
            </a:r>
            <a:r>
              <a:rPr lang="es-ES" dirty="0"/>
              <a:t>(30) </a:t>
            </a:r>
            <a:r>
              <a:rPr lang="es-ES" dirty="0" err="1"/>
              <a:t>not</a:t>
            </a:r>
            <a:r>
              <a:rPr lang="es-ES" dirty="0"/>
              <a:t> </a:t>
            </a:r>
            <a:r>
              <a:rPr lang="es-ES" dirty="0" err="1"/>
              <a:t>null</a:t>
            </a:r>
            <a:r>
              <a:rPr lang="es-ES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dirty="0"/>
              <a:t>	</a:t>
            </a:r>
            <a:r>
              <a:rPr lang="es-ES" dirty="0" err="1"/>
              <a:t>cidade</a:t>
            </a:r>
            <a:r>
              <a:rPr lang="es-ES" dirty="0"/>
              <a:t> </a:t>
            </a:r>
            <a:r>
              <a:rPr lang="es-ES" dirty="0" err="1"/>
              <a:t>varchar</a:t>
            </a:r>
            <a:r>
              <a:rPr lang="es-ES" dirty="0"/>
              <a:t>(30)</a:t>
            </a:r>
            <a:r>
              <a:rPr lang="es-ES" dirty="0" err="1"/>
              <a:t>not</a:t>
            </a:r>
            <a:r>
              <a:rPr lang="es-ES" dirty="0"/>
              <a:t> </a:t>
            </a:r>
            <a:r>
              <a:rPr lang="es-ES" dirty="0" err="1"/>
              <a:t>null</a:t>
            </a:r>
            <a:r>
              <a:rPr lang="es-ES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dirty="0"/>
              <a:t>	uf </a:t>
            </a:r>
            <a:r>
              <a:rPr lang="es-ES" dirty="0" err="1"/>
              <a:t>char</a:t>
            </a:r>
            <a:r>
              <a:rPr lang="es-ES" dirty="0"/>
              <a:t>(2) </a:t>
            </a:r>
            <a:r>
              <a:rPr lang="es-ES" dirty="0" err="1"/>
              <a:t>not</a:t>
            </a:r>
            <a:r>
              <a:rPr lang="es-ES" dirty="0"/>
              <a:t> </a:t>
            </a:r>
            <a:r>
              <a:rPr lang="es-ES" dirty="0" err="1"/>
              <a:t>null</a:t>
            </a:r>
            <a:r>
              <a:rPr lang="es-ES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dirty="0"/>
              <a:t>	</a:t>
            </a:r>
            <a:r>
              <a:rPr lang="es-ES" dirty="0" err="1"/>
              <a:t>telefone</a:t>
            </a:r>
            <a:r>
              <a:rPr lang="es-ES" dirty="0"/>
              <a:t> </a:t>
            </a:r>
            <a:r>
              <a:rPr lang="es-ES" dirty="0" err="1"/>
              <a:t>bigint</a:t>
            </a:r>
            <a:r>
              <a:rPr lang="es-ES" dirty="0"/>
              <a:t>(11) </a:t>
            </a:r>
            <a:r>
              <a:rPr lang="es-ES" dirty="0" err="1"/>
              <a:t>not</a:t>
            </a:r>
            <a:r>
              <a:rPr lang="es-ES" dirty="0"/>
              <a:t> </a:t>
            </a:r>
            <a:r>
              <a:rPr lang="es-ES" dirty="0" err="1"/>
              <a:t>null</a:t>
            </a:r>
            <a:r>
              <a:rPr lang="es-ES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dirty="0"/>
              <a:t>	</a:t>
            </a:r>
            <a:r>
              <a:rPr lang="es-ES" dirty="0" err="1"/>
              <a:t>cpf</a:t>
            </a:r>
            <a:r>
              <a:rPr lang="es-ES" dirty="0"/>
              <a:t> </a:t>
            </a:r>
            <a:r>
              <a:rPr lang="es-ES" dirty="0" err="1"/>
              <a:t>varchar</a:t>
            </a:r>
            <a:r>
              <a:rPr lang="es-ES" dirty="0"/>
              <a:t>(11) </a:t>
            </a:r>
            <a:r>
              <a:rPr lang="es-ES" dirty="0" err="1"/>
              <a:t>unique</a:t>
            </a:r>
            <a:r>
              <a:rPr lang="es-ES" dirty="0"/>
              <a:t> </a:t>
            </a:r>
            <a:r>
              <a:rPr lang="es-ES" dirty="0" err="1"/>
              <a:t>not</a:t>
            </a:r>
            <a:r>
              <a:rPr lang="es-ES" dirty="0"/>
              <a:t> </a:t>
            </a:r>
            <a:r>
              <a:rPr lang="es-ES" dirty="0" err="1"/>
              <a:t>null</a:t>
            </a:r>
            <a:r>
              <a:rPr lang="es-ES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dirty="0"/>
              <a:t>	</a:t>
            </a:r>
            <a:r>
              <a:rPr lang="es-ES" dirty="0" err="1"/>
              <a:t>data_nasc</a:t>
            </a:r>
            <a:r>
              <a:rPr lang="es-ES" dirty="0"/>
              <a:t> date </a:t>
            </a:r>
            <a:r>
              <a:rPr lang="es-ES" dirty="0" err="1"/>
              <a:t>not</a:t>
            </a:r>
            <a:r>
              <a:rPr lang="es-ES" dirty="0"/>
              <a:t> </a:t>
            </a:r>
            <a:r>
              <a:rPr lang="es-ES" dirty="0" err="1"/>
              <a:t>null</a:t>
            </a:r>
            <a:r>
              <a:rPr lang="es-ES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dirty="0"/>
              <a:t>	</a:t>
            </a:r>
            <a:r>
              <a:rPr lang="es-ES" dirty="0" err="1"/>
              <a:t>idade</a:t>
            </a:r>
            <a:r>
              <a:rPr lang="es-ES" dirty="0"/>
              <a:t> </a:t>
            </a:r>
            <a:r>
              <a:rPr lang="es-ES" dirty="0" err="1"/>
              <a:t>int</a:t>
            </a:r>
            <a:r>
              <a:rPr lang="es-ES" dirty="0"/>
              <a:t> (3)</a:t>
            </a:r>
            <a:r>
              <a:rPr lang="es-ES" dirty="0" err="1"/>
              <a:t>not</a:t>
            </a:r>
            <a:r>
              <a:rPr lang="es-ES" dirty="0"/>
              <a:t>  </a:t>
            </a:r>
            <a:r>
              <a:rPr lang="es-ES" dirty="0" err="1"/>
              <a:t>null</a:t>
            </a:r>
            <a:r>
              <a:rPr lang="es-ES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dirty="0"/>
              <a:t>	sexo </a:t>
            </a:r>
            <a:r>
              <a:rPr lang="es-ES" dirty="0" err="1"/>
              <a:t>varchar</a:t>
            </a:r>
            <a:r>
              <a:rPr lang="es-ES" dirty="0"/>
              <a:t>(10) </a:t>
            </a:r>
            <a:r>
              <a:rPr lang="es-ES" dirty="0" err="1"/>
              <a:t>not</a:t>
            </a:r>
            <a:r>
              <a:rPr lang="es-ES" dirty="0"/>
              <a:t> </a:t>
            </a:r>
            <a:r>
              <a:rPr lang="es-ES" dirty="0" err="1"/>
              <a:t>null</a:t>
            </a:r>
            <a:endParaRPr lang="es-ES" dirty="0"/>
          </a:p>
          <a:p>
            <a:pPr marL="0" indent="0">
              <a:buClr>
                <a:srgbClr val="C00000"/>
              </a:buClr>
              <a:buNone/>
            </a:pPr>
            <a:r>
              <a:rPr lang="es-ES" dirty="0"/>
              <a:t>)ENGINE=</a:t>
            </a:r>
            <a:r>
              <a:rPr lang="es-ES" dirty="0" err="1"/>
              <a:t>InnoDB</a:t>
            </a:r>
            <a:r>
              <a:rPr lang="es-ES" dirty="0"/>
              <a:t> DEFAULT CHARSET=latin1;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000473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Criação de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09480" y="1418400"/>
            <a:ext cx="10452220" cy="5287200"/>
          </a:xfrm>
        </p:spPr>
        <p:txBody>
          <a:bodyPr>
            <a:normAutofit fontScale="92500" lnSpcReduction="10000"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#Criar a </a:t>
            </a:r>
            <a:r>
              <a:rPr lang="es-ES" sz="3000" dirty="0" err="1"/>
              <a:t>tabela</a:t>
            </a:r>
            <a:r>
              <a:rPr lang="es-ES" sz="3000" dirty="0"/>
              <a:t> carro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CREATE TABLE carro(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	</a:t>
            </a:r>
            <a:r>
              <a:rPr lang="es-ES" sz="3400" dirty="0" err="1"/>
              <a:t>id_carro</a:t>
            </a:r>
            <a:r>
              <a:rPr lang="es-ES" sz="3400" dirty="0"/>
              <a:t> </a:t>
            </a:r>
            <a:r>
              <a:rPr lang="es-ES" sz="3400" dirty="0" err="1"/>
              <a:t>int</a:t>
            </a:r>
            <a:r>
              <a:rPr lang="es-ES" sz="3400" dirty="0"/>
              <a:t> </a:t>
            </a:r>
            <a:r>
              <a:rPr lang="es-ES" sz="3400" dirty="0" err="1"/>
              <a:t>primary</a:t>
            </a:r>
            <a:r>
              <a:rPr lang="es-ES" sz="3400" dirty="0"/>
              <a:t> </a:t>
            </a:r>
            <a:r>
              <a:rPr lang="es-ES" sz="3400" dirty="0" err="1"/>
              <a:t>key</a:t>
            </a:r>
            <a:r>
              <a:rPr lang="es-ES" sz="3400" dirty="0"/>
              <a:t> </a:t>
            </a:r>
            <a:r>
              <a:rPr lang="es-ES" sz="3400" dirty="0" err="1"/>
              <a:t>auto_increment</a:t>
            </a:r>
            <a:r>
              <a:rPr lang="es-ES" sz="34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	</a:t>
            </a:r>
            <a:r>
              <a:rPr lang="es-ES" sz="3400" dirty="0" err="1"/>
              <a:t>nome_carro</a:t>
            </a:r>
            <a:r>
              <a:rPr lang="es-ES" sz="3400" dirty="0"/>
              <a:t> </a:t>
            </a:r>
            <a:r>
              <a:rPr lang="es-ES" sz="3400" dirty="0" err="1"/>
              <a:t>varchar</a:t>
            </a:r>
            <a:r>
              <a:rPr lang="es-ES" sz="3400" dirty="0"/>
              <a:t> (30)</a:t>
            </a:r>
            <a:r>
              <a:rPr lang="es-ES" sz="3400" dirty="0" err="1"/>
              <a:t>not</a:t>
            </a:r>
            <a:r>
              <a:rPr lang="es-ES" sz="3400" dirty="0"/>
              <a:t> </a:t>
            </a:r>
            <a:r>
              <a:rPr lang="es-ES" sz="3400" dirty="0" err="1"/>
              <a:t>null</a:t>
            </a:r>
            <a:r>
              <a:rPr lang="es-ES" sz="34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	marca </a:t>
            </a:r>
            <a:r>
              <a:rPr lang="es-ES" sz="3400" dirty="0" err="1"/>
              <a:t>varchar</a:t>
            </a:r>
            <a:r>
              <a:rPr lang="es-ES" sz="3400" dirty="0"/>
              <a:t> (30)</a:t>
            </a:r>
            <a:r>
              <a:rPr lang="es-ES" sz="3400" dirty="0" err="1"/>
              <a:t>not</a:t>
            </a:r>
            <a:r>
              <a:rPr lang="es-ES" sz="3400" dirty="0"/>
              <a:t> </a:t>
            </a:r>
            <a:r>
              <a:rPr lang="es-ES" sz="3400" dirty="0" err="1"/>
              <a:t>null</a:t>
            </a:r>
            <a:r>
              <a:rPr lang="es-ES" sz="34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	modelo </a:t>
            </a:r>
            <a:r>
              <a:rPr lang="es-ES" sz="3400" dirty="0" err="1"/>
              <a:t>varchar</a:t>
            </a:r>
            <a:r>
              <a:rPr lang="es-ES" sz="3400" dirty="0"/>
              <a:t> (30)</a:t>
            </a:r>
            <a:r>
              <a:rPr lang="es-ES" sz="3400" dirty="0" err="1"/>
              <a:t>not</a:t>
            </a:r>
            <a:r>
              <a:rPr lang="es-ES" sz="3400" dirty="0"/>
              <a:t> </a:t>
            </a:r>
            <a:r>
              <a:rPr lang="es-ES" sz="3400" dirty="0" err="1"/>
              <a:t>null</a:t>
            </a:r>
            <a:r>
              <a:rPr lang="es-ES" sz="34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	ano </a:t>
            </a:r>
            <a:r>
              <a:rPr lang="es-ES" sz="3400" dirty="0" err="1"/>
              <a:t>int</a:t>
            </a:r>
            <a:r>
              <a:rPr lang="es-ES" sz="3400" dirty="0"/>
              <a:t>(4) </a:t>
            </a:r>
            <a:r>
              <a:rPr lang="es-ES" sz="3400" dirty="0" err="1"/>
              <a:t>not</a:t>
            </a:r>
            <a:r>
              <a:rPr lang="es-ES" sz="3400" dirty="0"/>
              <a:t> </a:t>
            </a:r>
            <a:r>
              <a:rPr lang="es-ES" sz="3400" dirty="0" err="1"/>
              <a:t>null</a:t>
            </a:r>
            <a:r>
              <a:rPr lang="es-ES" sz="34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	</a:t>
            </a:r>
            <a:r>
              <a:rPr lang="es-ES" sz="3400" dirty="0" err="1"/>
              <a:t>cor</a:t>
            </a:r>
            <a:r>
              <a:rPr lang="es-ES" sz="3400" dirty="0"/>
              <a:t> </a:t>
            </a:r>
            <a:r>
              <a:rPr lang="es-ES" sz="3400" dirty="0" err="1"/>
              <a:t>varchar</a:t>
            </a:r>
            <a:r>
              <a:rPr lang="es-ES" sz="3400" dirty="0"/>
              <a:t>(20) </a:t>
            </a:r>
            <a:r>
              <a:rPr lang="es-ES" sz="3400" dirty="0" err="1"/>
              <a:t>not</a:t>
            </a:r>
            <a:r>
              <a:rPr lang="es-ES" sz="3400" dirty="0"/>
              <a:t> </a:t>
            </a:r>
            <a:r>
              <a:rPr lang="es-ES" sz="3400" dirty="0" err="1"/>
              <a:t>null</a:t>
            </a:r>
            <a:r>
              <a:rPr lang="es-ES" sz="3400" dirty="0"/>
              <a:t>,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	</a:t>
            </a:r>
            <a:r>
              <a:rPr lang="es-ES" sz="3400" dirty="0" err="1"/>
              <a:t>preco</a:t>
            </a:r>
            <a:r>
              <a:rPr lang="es-ES" sz="3400" dirty="0"/>
              <a:t> decimal(7,3) </a:t>
            </a:r>
            <a:r>
              <a:rPr lang="es-ES" sz="3400" dirty="0" err="1"/>
              <a:t>not</a:t>
            </a:r>
            <a:r>
              <a:rPr lang="es-ES" sz="3400" dirty="0"/>
              <a:t> </a:t>
            </a:r>
            <a:r>
              <a:rPr lang="es-ES" sz="3400" dirty="0" err="1"/>
              <a:t>null</a:t>
            </a:r>
            <a:r>
              <a:rPr lang="es-ES" sz="3400" dirty="0"/>
              <a:t>	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s-ES" sz="3400" dirty="0"/>
              <a:t>)ENGINE=</a:t>
            </a:r>
            <a:r>
              <a:rPr lang="es-ES" sz="3400" dirty="0" err="1"/>
              <a:t>InnoDB</a:t>
            </a:r>
            <a:r>
              <a:rPr lang="es-ES" sz="3400" dirty="0"/>
              <a:t> DEFAULT CHARSET=latin1;</a:t>
            </a:r>
          </a:p>
        </p:txBody>
      </p:sp>
    </p:spTree>
    <p:extLst>
      <p:ext uri="{BB962C8B-B14F-4D97-AF65-F5344CB8AC3E}">
        <p14:creationId xmlns:p14="http://schemas.microsoft.com/office/powerpoint/2010/main" val="3550584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Inserindo dados na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8465" y="1297200"/>
            <a:ext cx="10452220" cy="5287200"/>
          </a:xfrm>
        </p:spPr>
        <p:txBody>
          <a:bodyPr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#Inserir dados </a:t>
            </a:r>
            <a:r>
              <a:rPr lang="es-ES" sz="3000" dirty="0" err="1"/>
              <a:t>na</a:t>
            </a:r>
            <a:r>
              <a:rPr lang="es-ES" sz="3000" dirty="0"/>
              <a:t> </a:t>
            </a:r>
            <a:r>
              <a:rPr lang="es-ES" sz="3000" dirty="0" err="1"/>
              <a:t>tabela</a:t>
            </a:r>
            <a:r>
              <a:rPr lang="es-ES" sz="3000" dirty="0"/>
              <a:t> carro</a:t>
            </a:r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INSERT INTO cliente (nome,sobrenome,endereco,bairro,cidade,uf,telefone,cpf,data_nasc,idade,sexo)VALUES('</a:t>
            </a:r>
            <a:r>
              <a:rPr lang="es-ES" sz="3000" dirty="0" err="1"/>
              <a:t>Valdisney</a:t>
            </a:r>
            <a:r>
              <a:rPr lang="es-ES" sz="3000" dirty="0"/>
              <a:t>','</a:t>
            </a:r>
            <a:r>
              <a:rPr lang="es-ES" sz="3000" dirty="0" err="1"/>
              <a:t>Dysnei</a:t>
            </a:r>
            <a:r>
              <a:rPr lang="es-ES" sz="3000" dirty="0"/>
              <a:t>','</a:t>
            </a:r>
            <a:r>
              <a:rPr lang="es-ES" sz="3000" dirty="0" err="1"/>
              <a:t>Miquei</a:t>
            </a:r>
            <a:r>
              <a:rPr lang="es-ES" sz="3000" dirty="0"/>
              <a:t> </a:t>
            </a:r>
            <a:r>
              <a:rPr lang="es-ES" sz="3000" dirty="0" err="1"/>
              <a:t>mause</a:t>
            </a:r>
            <a:r>
              <a:rPr lang="es-ES" sz="3000" dirty="0"/>
              <a:t> 99','Azenha','Porto Alegre','RS',51222222222,'77777777777',19901023,33,'Masculino'),('</a:t>
            </a:r>
            <a:r>
              <a:rPr lang="es-ES" sz="3000" dirty="0" err="1"/>
              <a:t>Patinhas</a:t>
            </a:r>
            <a:r>
              <a:rPr lang="es-ES" sz="3000" dirty="0"/>
              <a:t>','</a:t>
            </a:r>
            <a:r>
              <a:rPr lang="es-ES" sz="3000" dirty="0" err="1"/>
              <a:t>Pato','Lima</a:t>
            </a:r>
            <a:r>
              <a:rPr lang="es-ES" sz="3000" dirty="0"/>
              <a:t> e Silva 77', '</a:t>
            </a:r>
            <a:r>
              <a:rPr lang="es-ES" sz="3000" dirty="0" err="1"/>
              <a:t>Cidade</a:t>
            </a:r>
            <a:r>
              <a:rPr lang="es-ES" sz="3000" dirty="0"/>
              <a:t> </a:t>
            </a:r>
            <a:r>
              <a:rPr lang="es-ES" sz="3000" dirty="0" err="1"/>
              <a:t>Baixa','Porto</a:t>
            </a:r>
            <a:r>
              <a:rPr lang="es-ES" sz="3000" dirty="0"/>
              <a:t> Alegre','RS',51333333333,'66666666666',19801220,43,'masculino')</a:t>
            </a:r>
          </a:p>
        </p:txBody>
      </p:sp>
    </p:spTree>
    <p:extLst>
      <p:ext uri="{BB962C8B-B14F-4D97-AF65-F5344CB8AC3E}">
        <p14:creationId xmlns:p14="http://schemas.microsoft.com/office/powerpoint/2010/main" val="27510811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Inserindo dados na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8465" y="1297200"/>
            <a:ext cx="10452220" cy="5287200"/>
          </a:xfrm>
        </p:spPr>
        <p:txBody>
          <a:bodyPr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#Inserir dados </a:t>
            </a:r>
            <a:r>
              <a:rPr lang="es-ES" sz="3000" dirty="0" err="1"/>
              <a:t>na</a:t>
            </a:r>
            <a:r>
              <a:rPr lang="es-ES" sz="3000" dirty="0"/>
              <a:t> </a:t>
            </a:r>
            <a:r>
              <a:rPr lang="es-ES" sz="3000" dirty="0" err="1"/>
              <a:t>tabela</a:t>
            </a:r>
            <a:r>
              <a:rPr lang="es-ES" sz="3000" dirty="0"/>
              <a:t> carro</a:t>
            </a:r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INSERT INTO cliente (nome,sobrenome,endereco,bairro,cidade,uf,telefone,cpf,data_nasc,idade,sexo)VALUES('</a:t>
            </a:r>
            <a:r>
              <a:rPr lang="es-ES" sz="3000" dirty="0" err="1"/>
              <a:t>Alerquina</a:t>
            </a:r>
            <a:r>
              <a:rPr lang="es-ES" sz="3000" dirty="0"/>
              <a:t>','</a:t>
            </a:r>
            <a:r>
              <a:rPr lang="es-ES" sz="3000" dirty="0" err="1"/>
              <a:t>Coringa</a:t>
            </a:r>
            <a:r>
              <a:rPr lang="es-ES" sz="3000" dirty="0"/>
              <a:t>','</a:t>
            </a:r>
            <a:r>
              <a:rPr lang="es-ES" sz="3000" dirty="0" err="1"/>
              <a:t>Andradas</a:t>
            </a:r>
            <a:r>
              <a:rPr lang="es-ES" sz="3000" dirty="0"/>
              <a:t>','</a:t>
            </a:r>
            <a:r>
              <a:rPr lang="es-ES" sz="3000" dirty="0" err="1"/>
              <a:t>Centro','Porto</a:t>
            </a:r>
            <a:r>
              <a:rPr lang="es-ES" sz="3000" dirty="0"/>
              <a:t> Alegre','RS',51444444444,'99999999999',20001112,23,'Feminino'),('Moa','</a:t>
            </a:r>
            <a:r>
              <a:rPr lang="es-ES" sz="3000" dirty="0" err="1"/>
              <a:t>Capirota</a:t>
            </a:r>
            <a:r>
              <a:rPr lang="es-ES" sz="3000" dirty="0"/>
              <a:t>','</a:t>
            </a:r>
            <a:r>
              <a:rPr lang="es-ES" sz="3000" dirty="0" err="1"/>
              <a:t>Rua</a:t>
            </a:r>
            <a:r>
              <a:rPr lang="es-ES" sz="3000" dirty="0"/>
              <a:t> da praia','Canasvieiras','Florianópolis','SC',48888888888,'55555555555',20101013,13,'feminino')</a:t>
            </a:r>
          </a:p>
        </p:txBody>
      </p:sp>
    </p:spTree>
    <p:extLst>
      <p:ext uri="{BB962C8B-B14F-4D97-AF65-F5344CB8AC3E}">
        <p14:creationId xmlns:p14="http://schemas.microsoft.com/office/powerpoint/2010/main" val="35237463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Inserindo dados na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8465" y="1297200"/>
            <a:ext cx="10452220" cy="5287200"/>
          </a:xfrm>
        </p:spPr>
        <p:txBody>
          <a:bodyPr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#Inserir dados </a:t>
            </a:r>
            <a:r>
              <a:rPr lang="es-ES" sz="3000" dirty="0" err="1"/>
              <a:t>na</a:t>
            </a:r>
            <a:r>
              <a:rPr lang="es-ES" sz="3000" dirty="0"/>
              <a:t> </a:t>
            </a:r>
            <a:r>
              <a:rPr lang="es-ES" sz="3000" dirty="0" err="1"/>
              <a:t>tabela</a:t>
            </a:r>
            <a:r>
              <a:rPr lang="es-ES" sz="3000" dirty="0"/>
              <a:t> carro</a:t>
            </a:r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INSERT INTO carro (</a:t>
            </a:r>
            <a:r>
              <a:rPr lang="es-ES" sz="3000" dirty="0" err="1"/>
              <a:t>nome_carro</a:t>
            </a:r>
            <a:r>
              <a:rPr lang="es-ES" sz="3000" dirty="0"/>
              <a:t>, marca, modelo, ano, </a:t>
            </a:r>
            <a:r>
              <a:rPr lang="es-ES" sz="3000" dirty="0" err="1"/>
              <a:t>cor</a:t>
            </a:r>
            <a:r>
              <a:rPr lang="es-ES" sz="3000" dirty="0"/>
              <a:t>, </a:t>
            </a:r>
            <a:r>
              <a:rPr lang="es-ES" sz="3000" dirty="0" err="1"/>
              <a:t>preco</a:t>
            </a:r>
            <a:r>
              <a:rPr lang="es-ES" sz="3000" dirty="0"/>
              <a:t>) VALUES ('</a:t>
            </a:r>
            <a:r>
              <a:rPr lang="es-ES" sz="3000" dirty="0" err="1"/>
              <a:t>Opala</a:t>
            </a:r>
            <a:r>
              <a:rPr lang="es-ES" sz="3000" dirty="0"/>
              <a:t>', 'Chevrolet', '</a:t>
            </a:r>
            <a:r>
              <a:rPr lang="es-ES" sz="3000" dirty="0" err="1"/>
              <a:t>Diplomata</a:t>
            </a:r>
            <a:r>
              <a:rPr lang="es-ES" sz="3000" dirty="0"/>
              <a:t>', 1989,'Azul',  50.000),('Gol', '</a:t>
            </a:r>
            <a:r>
              <a:rPr lang="es-ES" sz="3000" dirty="0" err="1"/>
              <a:t>volkswagen</a:t>
            </a:r>
            <a:r>
              <a:rPr lang="es-ES" sz="3000" dirty="0"/>
              <a:t>', 'GTI', 1993, '</a:t>
            </a:r>
            <a:r>
              <a:rPr lang="es-ES" sz="3000" dirty="0" err="1"/>
              <a:t>Vermelho</a:t>
            </a:r>
            <a:r>
              <a:rPr lang="es-ES" sz="3000" dirty="0"/>
              <a:t>', 60.000)</a:t>
            </a:r>
          </a:p>
        </p:txBody>
      </p:sp>
    </p:spTree>
    <p:extLst>
      <p:ext uri="{BB962C8B-B14F-4D97-AF65-F5344CB8AC3E}">
        <p14:creationId xmlns:p14="http://schemas.microsoft.com/office/powerpoint/2010/main" val="2260621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Inserindo dados na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8465" y="1297200"/>
            <a:ext cx="10452220" cy="5287200"/>
          </a:xfrm>
        </p:spPr>
        <p:txBody>
          <a:bodyPr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#Inserir dados </a:t>
            </a:r>
            <a:r>
              <a:rPr lang="es-ES" sz="3000" dirty="0" err="1"/>
              <a:t>na</a:t>
            </a:r>
            <a:r>
              <a:rPr lang="es-ES" sz="3000" dirty="0"/>
              <a:t> carro</a:t>
            </a:r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INSERT INTO carro (</a:t>
            </a:r>
            <a:r>
              <a:rPr lang="es-ES" sz="3000" dirty="0" err="1"/>
              <a:t>nome_carro</a:t>
            </a:r>
            <a:r>
              <a:rPr lang="es-ES" sz="3000" dirty="0"/>
              <a:t>, marca, modelo, ano, </a:t>
            </a:r>
            <a:r>
              <a:rPr lang="es-ES" sz="3000" dirty="0" err="1"/>
              <a:t>cor</a:t>
            </a:r>
            <a:r>
              <a:rPr lang="es-ES" sz="3000" dirty="0"/>
              <a:t>, </a:t>
            </a:r>
            <a:r>
              <a:rPr lang="es-ES" sz="3000" dirty="0" err="1"/>
              <a:t>preco</a:t>
            </a:r>
            <a:r>
              <a:rPr lang="es-ES" sz="3000" dirty="0"/>
              <a:t>) VALUES ('Maverick', 'Ford', 'GT', 1974,'Prata',  100.000),('Fusca', '</a:t>
            </a:r>
            <a:r>
              <a:rPr lang="es-ES" sz="3000" dirty="0" err="1"/>
              <a:t>volkswagen</a:t>
            </a:r>
            <a:r>
              <a:rPr lang="es-ES" sz="3000" dirty="0"/>
              <a:t>', '</a:t>
            </a:r>
            <a:r>
              <a:rPr lang="es-ES" sz="3000" dirty="0" err="1"/>
              <a:t>Beetle</a:t>
            </a:r>
            <a:r>
              <a:rPr lang="es-ES" sz="3000" dirty="0"/>
              <a:t>', 1960, '</a:t>
            </a:r>
            <a:r>
              <a:rPr lang="es-ES" sz="3000" dirty="0" err="1"/>
              <a:t>Preto</a:t>
            </a:r>
            <a:r>
              <a:rPr lang="es-ES" sz="3000" dirty="0"/>
              <a:t>', 90.000)</a:t>
            </a:r>
          </a:p>
        </p:txBody>
      </p:sp>
    </p:spTree>
    <p:extLst>
      <p:ext uri="{BB962C8B-B14F-4D97-AF65-F5344CB8AC3E}">
        <p14:creationId xmlns:p14="http://schemas.microsoft.com/office/powerpoint/2010/main" val="17189694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Inserindo dados na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8465" y="1297200"/>
            <a:ext cx="10452220" cy="5287200"/>
          </a:xfrm>
        </p:spPr>
        <p:txBody>
          <a:bodyPr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</a:t>
            </a:r>
            <a:r>
              <a:rPr lang="es-ES" sz="3000" dirty="0" err="1"/>
              <a:t>Selecionar</a:t>
            </a:r>
            <a:r>
              <a:rPr lang="es-ES" sz="3000" dirty="0"/>
              <a:t> todos os dados da </a:t>
            </a:r>
            <a:r>
              <a:rPr lang="es-ES" sz="3000" dirty="0" err="1"/>
              <a:t>tabela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n-US" sz="3000" dirty="0"/>
              <a:t>SELECT * FROM </a:t>
            </a:r>
            <a:r>
              <a:rPr lang="en-US" sz="3000" dirty="0" err="1"/>
              <a:t>cliente</a:t>
            </a:r>
            <a:r>
              <a:rPr lang="en-US" sz="3000" dirty="0"/>
              <a:t> WHERE 1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n-US" sz="3000" dirty="0"/>
              <a:t>OU</a:t>
            </a:r>
          </a:p>
          <a:p>
            <a:pPr marL="0" indent="0">
              <a:buClr>
                <a:srgbClr val="C00000"/>
              </a:buClr>
              <a:buNone/>
            </a:pPr>
            <a:r>
              <a:rPr lang="en-US" sz="3000" dirty="0"/>
              <a:t>SELECT * FROM </a:t>
            </a:r>
            <a:r>
              <a:rPr lang="en-US" sz="3000" dirty="0" err="1"/>
              <a:t>cliente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</p:txBody>
      </p:sp>
    </p:spTree>
    <p:extLst>
      <p:ext uri="{BB962C8B-B14F-4D97-AF65-F5344CB8AC3E}">
        <p14:creationId xmlns:p14="http://schemas.microsoft.com/office/powerpoint/2010/main" val="28762075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Inserindo dados na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8465" y="1297200"/>
            <a:ext cx="10452220" cy="5287200"/>
          </a:xfrm>
        </p:spPr>
        <p:txBody>
          <a:bodyPr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</a:t>
            </a:r>
            <a:r>
              <a:rPr lang="es-ES" sz="3000" dirty="0" err="1"/>
              <a:t>Selecionar</a:t>
            </a:r>
            <a:r>
              <a:rPr lang="es-ES" sz="3000" dirty="0"/>
              <a:t> </a:t>
            </a:r>
            <a:r>
              <a:rPr lang="es-ES" sz="3000" dirty="0" err="1"/>
              <a:t>um</a:t>
            </a:r>
            <a:r>
              <a:rPr lang="es-ES" sz="3000" dirty="0"/>
              <a:t> dado da </a:t>
            </a:r>
            <a:r>
              <a:rPr lang="es-ES" sz="3000" dirty="0" err="1"/>
              <a:t>tabela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n-US" sz="3000" dirty="0"/>
              <a:t>SELECT  * FROM </a:t>
            </a:r>
            <a:r>
              <a:rPr lang="en-US" sz="3000" dirty="0" err="1"/>
              <a:t>cliente</a:t>
            </a:r>
            <a:r>
              <a:rPr lang="en-US" sz="3000" dirty="0"/>
              <a:t> WHERE </a:t>
            </a:r>
            <a:r>
              <a:rPr lang="en-US" sz="3000" dirty="0" err="1"/>
              <a:t>id_cliente</a:t>
            </a:r>
            <a:r>
              <a:rPr lang="en-US" sz="3000" dirty="0"/>
              <a:t> = 2</a:t>
            </a:r>
          </a:p>
          <a:p>
            <a:pPr marL="0" indent="0">
              <a:buClr>
                <a:srgbClr val="C00000"/>
              </a:buClr>
              <a:buNone/>
            </a:pPr>
            <a:endParaRPr lang="en-U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n-US" sz="3000" dirty="0"/>
              <a:t>SELECT * FROM </a:t>
            </a:r>
            <a:r>
              <a:rPr lang="en-US" sz="3000" dirty="0" err="1"/>
              <a:t>cliente</a:t>
            </a:r>
            <a:r>
              <a:rPr lang="en-US" sz="3000" dirty="0"/>
              <a:t> WHERE </a:t>
            </a:r>
            <a:r>
              <a:rPr lang="en-US" sz="3000" dirty="0" err="1"/>
              <a:t>nome</a:t>
            </a:r>
            <a:r>
              <a:rPr lang="en-US" sz="3000" dirty="0"/>
              <a:t> = 'Moa’</a:t>
            </a:r>
          </a:p>
          <a:p>
            <a:pPr marL="0" indent="0">
              <a:buClr>
                <a:srgbClr val="C00000"/>
              </a:buClr>
              <a:buNone/>
            </a:pPr>
            <a:endParaRPr lang="en-U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pt-BR" sz="3000" dirty="0"/>
              <a:t>SELECT * FROM cliente WHERE cidade = 'Porto Alegre’</a:t>
            </a:r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pt-BR" sz="3000" dirty="0"/>
              <a:t>SELECT * FROM cliente WHERE sexo = ‘Masculino'</a:t>
            </a:r>
            <a:endParaRPr lang="es-ES" sz="3000" dirty="0"/>
          </a:p>
        </p:txBody>
      </p:sp>
    </p:spTree>
    <p:extLst>
      <p:ext uri="{BB962C8B-B14F-4D97-AF65-F5344CB8AC3E}">
        <p14:creationId xmlns:p14="http://schemas.microsoft.com/office/powerpoint/2010/main" val="1059960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Inserindo dados na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8465" y="1297200"/>
            <a:ext cx="10452220" cy="5287200"/>
          </a:xfrm>
        </p:spPr>
        <p:txBody>
          <a:bodyPr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</a:t>
            </a:r>
            <a:r>
              <a:rPr lang="es-ES" sz="3000" dirty="0" err="1"/>
              <a:t>Selecionar</a:t>
            </a:r>
            <a:r>
              <a:rPr lang="es-ES" sz="3000" dirty="0"/>
              <a:t> </a:t>
            </a:r>
            <a:r>
              <a:rPr lang="es-ES" sz="3000" dirty="0" err="1"/>
              <a:t>um</a:t>
            </a:r>
            <a:r>
              <a:rPr lang="es-ES" sz="3000" dirty="0"/>
              <a:t> dado da </a:t>
            </a:r>
            <a:r>
              <a:rPr lang="es-ES" sz="3000" dirty="0" err="1"/>
              <a:t>tabela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pt-BR" sz="3000" dirty="0"/>
              <a:t>SELECT * FROM carro WHERE cor = ‘Azul’</a:t>
            </a:r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pt-BR" sz="3000" dirty="0"/>
              <a:t>SELECT * FROM carro WHERE </a:t>
            </a:r>
            <a:r>
              <a:rPr lang="pt-BR" sz="3000" dirty="0" err="1"/>
              <a:t>nome_carro</a:t>
            </a:r>
            <a:r>
              <a:rPr lang="pt-BR" sz="3000" dirty="0"/>
              <a:t> = 'Gol’</a:t>
            </a:r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SELECT * FROM carro WHERE modelo = ‘GT'</a:t>
            </a:r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</p:txBody>
      </p:sp>
    </p:spTree>
    <p:extLst>
      <p:ext uri="{BB962C8B-B14F-4D97-AF65-F5344CB8AC3E}">
        <p14:creationId xmlns:p14="http://schemas.microsoft.com/office/powerpoint/2010/main" val="3530846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Inserindo dados na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8465" y="1297200"/>
            <a:ext cx="10452220" cy="5287200"/>
          </a:xfrm>
        </p:spPr>
        <p:txBody>
          <a:bodyPr>
            <a:normAutofit lnSpcReduction="10000"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</a:t>
            </a:r>
            <a:r>
              <a:rPr lang="es-ES" sz="3000" dirty="0" err="1"/>
              <a:t>Selecionar</a:t>
            </a:r>
            <a:r>
              <a:rPr lang="es-ES" sz="3000" dirty="0"/>
              <a:t> </a:t>
            </a:r>
            <a:r>
              <a:rPr lang="es-ES" sz="3000" dirty="0" err="1"/>
              <a:t>um</a:t>
            </a:r>
            <a:r>
              <a:rPr lang="es-ES" sz="3000" dirty="0"/>
              <a:t> dado da </a:t>
            </a:r>
            <a:r>
              <a:rPr lang="es-ES" sz="3000" dirty="0" err="1"/>
              <a:t>tabela</a:t>
            </a:r>
            <a:r>
              <a:rPr lang="es-ES" sz="3000" dirty="0"/>
              <a:t>, utilizando os operadores AND OR</a:t>
            </a:r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pt-BR" sz="3000" dirty="0"/>
              <a:t>SELECT * FROM cliente WHERE cidade = 'Porto Alegre' AND idade = 33</a:t>
            </a:r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pt-BR" sz="3000" dirty="0"/>
              <a:t>SELECT * FROM cliente WHERE cidade = 'Porto Alegre' AND idade = 30</a:t>
            </a:r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pt-BR" sz="3000" dirty="0"/>
              <a:t>SELECT * FROM cliente WHERE bairro = ‘Centro' AND sexo = ‘Feminino’</a:t>
            </a:r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</p:txBody>
      </p:sp>
    </p:spTree>
    <p:extLst>
      <p:ext uri="{BB962C8B-B14F-4D97-AF65-F5344CB8AC3E}">
        <p14:creationId xmlns:p14="http://schemas.microsoft.com/office/powerpoint/2010/main" val="27992061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Inserindo dados na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8465" y="1297200"/>
            <a:ext cx="10452220" cy="5287200"/>
          </a:xfrm>
        </p:spPr>
        <p:txBody>
          <a:bodyPr>
            <a:normAutofit lnSpcReduction="10000"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</a:t>
            </a:r>
            <a:r>
              <a:rPr lang="es-ES" sz="3000" dirty="0" err="1"/>
              <a:t>Selecionar</a:t>
            </a:r>
            <a:r>
              <a:rPr lang="es-ES" sz="3000" dirty="0"/>
              <a:t> </a:t>
            </a:r>
            <a:r>
              <a:rPr lang="es-ES" sz="3000" dirty="0" err="1"/>
              <a:t>um</a:t>
            </a:r>
            <a:r>
              <a:rPr lang="es-ES" sz="3000" dirty="0"/>
              <a:t> dado da </a:t>
            </a:r>
            <a:r>
              <a:rPr lang="es-ES" sz="3000" dirty="0" err="1"/>
              <a:t>tabela</a:t>
            </a:r>
            <a:r>
              <a:rPr lang="es-ES" sz="3000" dirty="0"/>
              <a:t>, utilizando os operadores AND OR</a:t>
            </a:r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pt-BR" sz="3000" dirty="0"/>
              <a:t>SELECT * FROM carro WHERE </a:t>
            </a:r>
            <a:r>
              <a:rPr lang="pt-BR" sz="3000" dirty="0" err="1"/>
              <a:t>nome_carro</a:t>
            </a:r>
            <a:r>
              <a:rPr lang="pt-BR" sz="3000" dirty="0"/>
              <a:t> = ‘GOL' AND cor = ‘Vermelho’</a:t>
            </a:r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pt-BR" sz="3000" dirty="0"/>
              <a:t>SELECT * FROM carro WHERE </a:t>
            </a:r>
            <a:r>
              <a:rPr lang="pt-BR" sz="3000" dirty="0" err="1"/>
              <a:t>nome_carro</a:t>
            </a:r>
            <a:r>
              <a:rPr lang="pt-BR" sz="3000" dirty="0"/>
              <a:t> = ‘Opala' AND ano = 1989</a:t>
            </a:r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pt-BR" sz="3000" dirty="0"/>
              <a:t>SELECT * FROM carro WHERE </a:t>
            </a:r>
            <a:r>
              <a:rPr lang="pt-BR" sz="3000" dirty="0" err="1"/>
              <a:t>nome_carro</a:t>
            </a:r>
            <a:r>
              <a:rPr lang="pt-BR" sz="3000" dirty="0"/>
              <a:t> = ‘Fusca' AND ano = 1950</a:t>
            </a:r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</p:txBody>
      </p:sp>
    </p:spTree>
    <p:extLst>
      <p:ext uri="{BB962C8B-B14F-4D97-AF65-F5344CB8AC3E}">
        <p14:creationId xmlns:p14="http://schemas.microsoft.com/office/powerpoint/2010/main" val="35620356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Inserindo dados na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8465" y="1297200"/>
            <a:ext cx="10452220" cy="5287200"/>
          </a:xfrm>
        </p:spPr>
        <p:txBody>
          <a:bodyPr>
            <a:normAutofit lnSpcReduction="10000"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</a:t>
            </a:r>
            <a:r>
              <a:rPr lang="es-ES" sz="3000" dirty="0" err="1"/>
              <a:t>Selecionar</a:t>
            </a:r>
            <a:r>
              <a:rPr lang="es-ES" sz="3000" dirty="0"/>
              <a:t> </a:t>
            </a:r>
            <a:r>
              <a:rPr lang="es-ES" sz="3000" dirty="0" err="1"/>
              <a:t>um</a:t>
            </a:r>
            <a:r>
              <a:rPr lang="es-ES" sz="3000" dirty="0"/>
              <a:t> dado da </a:t>
            </a:r>
            <a:r>
              <a:rPr lang="es-ES" sz="3000" dirty="0" err="1"/>
              <a:t>tabela</a:t>
            </a:r>
            <a:r>
              <a:rPr lang="es-ES" sz="3000" dirty="0"/>
              <a:t>, utilizando os operadores AND OR</a:t>
            </a:r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pt-BR" sz="3000" dirty="0"/>
              <a:t>SELECT * FROM carro WHERE </a:t>
            </a:r>
            <a:r>
              <a:rPr lang="pt-BR" sz="3000" dirty="0" err="1"/>
              <a:t>nome_carro</a:t>
            </a:r>
            <a:r>
              <a:rPr lang="pt-BR" sz="3000" dirty="0"/>
              <a:t> = ‘Fusca’ OR ano = 1950</a:t>
            </a:r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pt-BR" sz="3000" dirty="0"/>
              <a:t>SELECT * FROM carro WHERE </a:t>
            </a:r>
            <a:r>
              <a:rPr lang="pt-BR" sz="3000" dirty="0" err="1"/>
              <a:t>nome_carro</a:t>
            </a:r>
            <a:r>
              <a:rPr lang="pt-BR" sz="3000" dirty="0"/>
              <a:t> = ‘Maverick’ OR modelo = ‘GTS’</a:t>
            </a:r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pt-BR" sz="3000" dirty="0"/>
              <a:t>SELECT * FROM carro WHERE marca= ‘Chevrolet’ OR cor = ‘Vermelho’</a:t>
            </a:r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</p:txBody>
      </p:sp>
    </p:spTree>
    <p:extLst>
      <p:ext uri="{BB962C8B-B14F-4D97-AF65-F5344CB8AC3E}">
        <p14:creationId xmlns:p14="http://schemas.microsoft.com/office/powerpoint/2010/main" val="5824081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Inserindo dados na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8465" y="1297200"/>
            <a:ext cx="10452220" cy="5287200"/>
          </a:xfrm>
        </p:spPr>
        <p:txBody>
          <a:bodyPr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</a:t>
            </a:r>
            <a:r>
              <a:rPr lang="es-ES" sz="3000" dirty="0" err="1"/>
              <a:t>Selecionar</a:t>
            </a:r>
            <a:r>
              <a:rPr lang="es-ES" sz="3000" dirty="0"/>
              <a:t> </a:t>
            </a:r>
            <a:r>
              <a:rPr lang="es-ES" sz="3000" dirty="0" err="1"/>
              <a:t>um</a:t>
            </a:r>
            <a:r>
              <a:rPr lang="es-ES" sz="3000" dirty="0"/>
              <a:t> dado da </a:t>
            </a:r>
            <a:r>
              <a:rPr lang="es-ES" sz="3000" dirty="0" err="1"/>
              <a:t>tabela</a:t>
            </a: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pt-BR" sz="3000" dirty="0"/>
              <a:t>SELECT * FROM carro WHERE ano &lt; 1990</a:t>
            </a:r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pt-BR" sz="3000" dirty="0"/>
              <a:t>SELECT * FROM carro WHERE </a:t>
            </a:r>
            <a:r>
              <a:rPr lang="pt-BR" sz="3000" dirty="0" err="1"/>
              <a:t>preco</a:t>
            </a:r>
            <a:r>
              <a:rPr lang="pt-BR" sz="3000" dirty="0"/>
              <a:t> &gt; 60.000</a:t>
            </a:r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pt-BR" sz="3000" dirty="0"/>
              <a:t>SELECT * FROM carro WHERE </a:t>
            </a:r>
            <a:r>
              <a:rPr lang="pt-BR" sz="3000" dirty="0" err="1"/>
              <a:t>preco</a:t>
            </a:r>
            <a:r>
              <a:rPr lang="pt-BR" sz="3000" dirty="0"/>
              <a:t> &gt;= 60.000</a:t>
            </a:r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</p:txBody>
      </p:sp>
    </p:spTree>
    <p:extLst>
      <p:ext uri="{BB962C8B-B14F-4D97-AF65-F5344CB8AC3E}">
        <p14:creationId xmlns:p14="http://schemas.microsoft.com/office/powerpoint/2010/main" val="31023538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Inserindo dados na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8465" y="1297200"/>
            <a:ext cx="10452220" cy="5287200"/>
          </a:xfrm>
        </p:spPr>
        <p:txBody>
          <a:bodyPr>
            <a:normAutofit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</a:t>
            </a:r>
            <a:r>
              <a:rPr lang="es-ES" sz="3000" dirty="0" err="1"/>
              <a:t>Selecionar</a:t>
            </a:r>
            <a:r>
              <a:rPr lang="es-ES" sz="3000" dirty="0"/>
              <a:t> </a:t>
            </a:r>
            <a:r>
              <a:rPr lang="es-ES" sz="3000" dirty="0" err="1"/>
              <a:t>um</a:t>
            </a:r>
            <a:r>
              <a:rPr lang="es-ES" sz="3000" dirty="0"/>
              <a:t> dado da </a:t>
            </a:r>
            <a:r>
              <a:rPr lang="es-ES" sz="3000" dirty="0" err="1"/>
              <a:t>tabela</a:t>
            </a:r>
            <a:r>
              <a:rPr lang="es-ES" sz="3000" dirty="0"/>
              <a:t>, utilizando os operadores</a:t>
            </a:r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pt-BR" sz="3000" dirty="0"/>
              <a:t>SELECT * FROM carro WHERE </a:t>
            </a:r>
            <a:r>
              <a:rPr lang="pt-BR" sz="3000" dirty="0" err="1"/>
              <a:t>preco</a:t>
            </a:r>
            <a:r>
              <a:rPr lang="pt-BR" sz="3000" dirty="0"/>
              <a:t> &gt;= 60.000 AND </a:t>
            </a:r>
            <a:r>
              <a:rPr lang="pt-BR" sz="3000" dirty="0" err="1"/>
              <a:t>preco</a:t>
            </a:r>
            <a:r>
              <a:rPr lang="pt-BR" sz="3000" dirty="0"/>
              <a:t> &lt;= 90.000</a:t>
            </a:r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pt-BR" sz="3000" dirty="0"/>
              <a:t>SELECT * FROM carro WHERE </a:t>
            </a:r>
            <a:r>
              <a:rPr lang="pt-BR" sz="3000" dirty="0" err="1"/>
              <a:t>preco</a:t>
            </a:r>
            <a:r>
              <a:rPr lang="pt-BR" sz="3000" dirty="0"/>
              <a:t> &gt;= 60.000 AND cor = ‘vermelho’</a:t>
            </a:r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pt-BR" sz="3000" dirty="0"/>
              <a:t>SELECT * FROM cliente WHERE idade &gt;= 30</a:t>
            </a:r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</p:txBody>
      </p:sp>
    </p:spTree>
    <p:extLst>
      <p:ext uri="{BB962C8B-B14F-4D97-AF65-F5344CB8AC3E}">
        <p14:creationId xmlns:p14="http://schemas.microsoft.com/office/powerpoint/2010/main" val="13650819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60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Inserindo dados na tabela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98465" y="1297200"/>
            <a:ext cx="10452220" cy="5287200"/>
          </a:xfrm>
        </p:spPr>
        <p:txBody>
          <a:bodyPr>
            <a:normAutofit lnSpcReduction="10000"/>
          </a:bodyPr>
          <a:lstStyle/>
          <a:p>
            <a:pPr marL="0" indent="0">
              <a:buClr>
                <a:srgbClr val="C00000"/>
              </a:buClr>
              <a:buNone/>
            </a:pPr>
            <a:r>
              <a:rPr lang="es-ES" sz="3000" dirty="0"/>
              <a:t>#</a:t>
            </a:r>
            <a:r>
              <a:rPr lang="es-ES" sz="3000" dirty="0" err="1"/>
              <a:t>Selecionar</a:t>
            </a:r>
            <a:r>
              <a:rPr lang="es-ES" sz="3000" dirty="0"/>
              <a:t> </a:t>
            </a:r>
            <a:r>
              <a:rPr lang="es-ES" sz="3000" dirty="0" err="1"/>
              <a:t>um</a:t>
            </a:r>
            <a:r>
              <a:rPr lang="es-ES" sz="3000" dirty="0"/>
              <a:t> dado da </a:t>
            </a:r>
            <a:r>
              <a:rPr lang="es-ES" sz="3000" dirty="0" err="1"/>
              <a:t>tabela</a:t>
            </a:r>
            <a:r>
              <a:rPr lang="es-ES" sz="3000" dirty="0"/>
              <a:t>, utilizando os operadores</a:t>
            </a:r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pt-BR" sz="3000" dirty="0"/>
              <a:t>SELECT * FROM cliente WHERE idade &gt;= 30 AND sexo = ‘Feminino’</a:t>
            </a:r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pt-BR" sz="3000" dirty="0"/>
              <a:t>SELECT * FROM cliente WHERE </a:t>
            </a:r>
            <a:r>
              <a:rPr lang="pt-BR" sz="3000" dirty="0" err="1"/>
              <a:t>data_nasc</a:t>
            </a:r>
            <a:r>
              <a:rPr lang="pt-BR" sz="3000" dirty="0"/>
              <a:t> &lt; 20001111</a:t>
            </a:r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n-US" sz="3000" dirty="0"/>
              <a:t>SELECT * FROM </a:t>
            </a:r>
            <a:r>
              <a:rPr lang="en-US" sz="3000" dirty="0" err="1"/>
              <a:t>cliente</a:t>
            </a:r>
            <a:r>
              <a:rPr lang="en-US" sz="3000" dirty="0"/>
              <a:t> WHERE </a:t>
            </a:r>
            <a:r>
              <a:rPr lang="en-US" sz="3000" dirty="0" err="1"/>
              <a:t>sexo</a:t>
            </a:r>
            <a:r>
              <a:rPr lang="en-US" sz="3000" dirty="0"/>
              <a:t> &lt;&gt; '</a:t>
            </a:r>
            <a:r>
              <a:rPr lang="en-US" sz="3000" dirty="0" err="1"/>
              <a:t>Feminino</a:t>
            </a:r>
            <a:r>
              <a:rPr lang="en-US" sz="3000" dirty="0"/>
              <a:t>’</a:t>
            </a:r>
          </a:p>
          <a:p>
            <a:pPr marL="0" indent="0">
              <a:buClr>
                <a:srgbClr val="C00000"/>
              </a:buClr>
              <a:buNone/>
            </a:pPr>
            <a:endParaRPr lang="en-US" sz="3000" dirty="0"/>
          </a:p>
          <a:p>
            <a:pPr marL="0" indent="0">
              <a:buClr>
                <a:srgbClr val="C00000"/>
              </a:buClr>
              <a:buNone/>
            </a:pPr>
            <a:r>
              <a:rPr lang="en-US" sz="3000" dirty="0"/>
              <a:t>SELECT * FROM </a:t>
            </a:r>
            <a:r>
              <a:rPr lang="en-US" sz="3000" dirty="0" err="1"/>
              <a:t>carro</a:t>
            </a:r>
            <a:r>
              <a:rPr lang="en-US" sz="3000" dirty="0"/>
              <a:t> WHERE </a:t>
            </a:r>
            <a:r>
              <a:rPr lang="en-US" sz="3000" dirty="0" err="1"/>
              <a:t>marca</a:t>
            </a:r>
            <a:r>
              <a:rPr lang="en-US" sz="3000" dirty="0"/>
              <a:t> &lt;&gt; ‘Ford’ AND </a:t>
            </a:r>
            <a:r>
              <a:rPr lang="en-US" sz="3000" dirty="0" err="1"/>
              <a:t>nome_carro</a:t>
            </a:r>
            <a:r>
              <a:rPr lang="en-US" sz="3000" dirty="0"/>
              <a:t> &lt;&gt; ‘Gol’</a:t>
            </a: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endParaRPr lang="pt-BR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  <a:p>
            <a:pPr marL="0" indent="0">
              <a:buClr>
                <a:srgbClr val="C00000"/>
              </a:buClr>
              <a:buNone/>
            </a:pPr>
            <a:endParaRPr lang="es-ES" sz="3000" dirty="0"/>
          </a:p>
        </p:txBody>
      </p:sp>
    </p:spTree>
    <p:extLst>
      <p:ext uri="{BB962C8B-B14F-4D97-AF65-F5344CB8AC3E}">
        <p14:creationId xmlns:p14="http://schemas.microsoft.com/office/powerpoint/2010/main" val="37381793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59407" y="329019"/>
            <a:ext cx="8409829" cy="1144800"/>
          </a:xfrm>
        </p:spPr>
        <p:txBody>
          <a:bodyPr>
            <a:normAutofit fontScale="90000"/>
          </a:bodyPr>
          <a:lstStyle/>
          <a:p>
            <a:r>
              <a:rPr lang="pt-BR" sz="3600" b="1" spc="-1" dirty="0">
                <a:solidFill>
                  <a:srgbClr val="005696"/>
                </a:solidFill>
                <a:latin typeface="Calibri Light"/>
                <a:cs typeface="+mn-cs"/>
              </a:rPr>
              <a:t>Hora da atividade :)</a:t>
            </a:r>
            <a:br>
              <a:rPr lang="pt-BR" dirty="0"/>
            </a:br>
            <a:r>
              <a:rPr lang="pt-BR" dirty="0"/>
              <a:t>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Empresa </a:t>
            </a:r>
            <a:r>
              <a:rPr lang="pt-BR" sz="6700" b="1" spc="-1" dirty="0" err="1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TchêUber</a:t>
            </a:r>
            <a:endParaRPr lang="pt-BR" sz="6700" b="1" spc="-1" dirty="0">
              <a:solidFill>
                <a:srgbClr val="005696"/>
              </a:solidFill>
              <a:latin typeface="Calibri Light"/>
              <a:ea typeface="DejaVu Sans"/>
              <a:cs typeface="+mn-cs"/>
            </a:endParaRP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32510" y="1946563"/>
            <a:ext cx="11720945" cy="3816927"/>
          </a:xfrm>
        </p:spPr>
        <p:txBody>
          <a:bodyPr>
            <a:noAutofit/>
          </a:bodyPr>
          <a:lstStyle/>
          <a:p>
            <a:pPr marL="0" indent="0" algn="ctr">
              <a:buClr>
                <a:srgbClr val="C00000"/>
              </a:buClr>
              <a:buNone/>
            </a:pPr>
            <a:r>
              <a:rPr lang="es-ES" sz="2000" dirty="0"/>
              <a:t>Desafío</a:t>
            </a:r>
          </a:p>
          <a:p>
            <a:pPr marL="0" indent="0" algn="ctr">
              <a:buClr>
                <a:srgbClr val="C00000"/>
              </a:buClr>
              <a:buNone/>
            </a:pPr>
            <a:r>
              <a:rPr lang="es-ES" sz="2000" dirty="0"/>
              <a:t>#Realizar </a:t>
            </a:r>
            <a:r>
              <a:rPr lang="es-ES" sz="2000" dirty="0" err="1"/>
              <a:t>duas</a:t>
            </a:r>
            <a:r>
              <a:rPr lang="es-ES" sz="2000" dirty="0"/>
              <a:t> pesquisa de dados em cada </a:t>
            </a:r>
            <a:r>
              <a:rPr lang="es-ES" sz="2000" dirty="0" err="1"/>
              <a:t>tabela</a:t>
            </a:r>
            <a:r>
              <a:rPr lang="es-ES" sz="2000" dirty="0"/>
              <a:t> do banco </a:t>
            </a:r>
            <a:r>
              <a:rPr lang="es-ES" sz="2000" dirty="0" err="1"/>
              <a:t>tcheuber</a:t>
            </a:r>
            <a:endParaRPr lang="pt-BR" sz="1900" dirty="0"/>
          </a:p>
          <a:p>
            <a:pPr>
              <a:buClr>
                <a:srgbClr val="00B0F0"/>
              </a:buClr>
            </a:pPr>
            <a:r>
              <a:rPr lang="pt-BR" sz="1900" dirty="0"/>
              <a:t>1 – Uma empresa do seguimento de transportes (</a:t>
            </a:r>
            <a:r>
              <a:rPr lang="pt-BR" sz="1900" dirty="0" err="1"/>
              <a:t>TchêUber</a:t>
            </a:r>
            <a:r>
              <a:rPr lang="pt-BR" sz="1900" dirty="0"/>
              <a:t>), necessita de um sistema, para registro de seus  motoristas, seus veículos, mecânicos e solicitações de serviços mecânicos.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2 – Os dados necessários do motorista são: nome completo do motorista, categoria da carteira do motorista, número da carteira do motorista, CPF, endereço, cidade, estado e número do celular.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3 – Os dados necessários dos veículos são: nome do veículo, marca, modelo, placa, ano de fabricação, número do chassi e cor.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4 – Os dados necessários do mecânico são: nome, endereço, cidade, estado, CPF e celular.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5 – O motorista pode solicitar serviço mecânico quando necessário.</a:t>
            </a:r>
          </a:p>
          <a:p>
            <a:pPr>
              <a:buClr>
                <a:srgbClr val="00B0F0"/>
              </a:buClr>
            </a:pPr>
            <a:r>
              <a:rPr lang="pt-BR" sz="1900" dirty="0"/>
              <a:t>6 – O serviço, deve registrar o número da ordem de serviço, data da solicitação, data do problema, nome do veículo, nome do motorista, placa do veículo e descrição do problema.</a:t>
            </a:r>
          </a:p>
        </p:txBody>
      </p:sp>
    </p:spTree>
    <p:extLst>
      <p:ext uri="{BB962C8B-B14F-4D97-AF65-F5344CB8AC3E}">
        <p14:creationId xmlns:p14="http://schemas.microsoft.com/office/powerpoint/2010/main" val="30135175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870244" y="287455"/>
            <a:ext cx="6650302" cy="1144800"/>
          </a:xfrm>
        </p:spPr>
        <p:txBody>
          <a:bodyPr>
            <a:normAutofit fontScale="90000"/>
          </a:bodyPr>
          <a:lstStyle/>
          <a:p>
            <a:pPr algn="l"/>
            <a:r>
              <a:rPr lang="pt-BR" sz="36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Atividade 2</a:t>
            </a:r>
            <a:br>
              <a:rPr lang="pt-BR" dirty="0"/>
            </a:br>
            <a:r>
              <a:rPr lang="pt-BR" dirty="0"/>
              <a:t>                  </a:t>
            </a:r>
            <a:r>
              <a:rPr lang="pt-BR" sz="6700" b="1" spc="-1" dirty="0">
                <a:solidFill>
                  <a:srgbClr val="005696"/>
                </a:solidFill>
                <a:latin typeface="Calibri Light"/>
                <a:ea typeface="DejaVu Sans"/>
                <a:cs typeface="+mn-cs"/>
              </a:rPr>
              <a:t>Aeroporto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6009" y="1895466"/>
            <a:ext cx="11679382" cy="397728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Clr>
                <a:srgbClr val="00B0F0"/>
              </a:buClr>
              <a:buNone/>
            </a:pPr>
            <a:r>
              <a:rPr lang="es-ES" dirty="0"/>
              <a:t># Realizar </a:t>
            </a:r>
            <a:r>
              <a:rPr lang="es-ES" dirty="0" err="1"/>
              <a:t>duas</a:t>
            </a:r>
            <a:r>
              <a:rPr lang="es-ES" dirty="0"/>
              <a:t> pesquisa de dados em cada </a:t>
            </a:r>
            <a:r>
              <a:rPr lang="es-ES" dirty="0" err="1"/>
              <a:t>tabela</a:t>
            </a:r>
            <a:r>
              <a:rPr lang="es-ES" dirty="0"/>
              <a:t> do banco </a:t>
            </a:r>
            <a:r>
              <a:rPr lang="es-ES" dirty="0" err="1"/>
              <a:t>Aeroporto</a:t>
            </a:r>
            <a:endParaRPr lang="pt-BR" dirty="0"/>
          </a:p>
          <a:p>
            <a:pPr>
              <a:buClr>
                <a:srgbClr val="00B0F0"/>
              </a:buClr>
            </a:pPr>
            <a:r>
              <a:rPr lang="pt-BR" dirty="0"/>
              <a:t>Cada avião tem um prefixo único, um modelo específico, nome da empresa, capacidade de passageiros, quantidade máxima de combustível, peso e observações.</a:t>
            </a:r>
          </a:p>
          <a:p>
            <a:pPr>
              <a:buClr>
                <a:srgbClr val="00B0F0"/>
              </a:buClr>
            </a:pPr>
            <a:r>
              <a:rPr lang="pt-BR" dirty="0"/>
              <a:t>O aeroporto pode conter um certo número de aviões, peso do avião que suporta, horários de voo, destino e horário de chegada no destino.</a:t>
            </a:r>
          </a:p>
          <a:p>
            <a:pPr>
              <a:buClr>
                <a:srgbClr val="00B0F0"/>
              </a:buClr>
            </a:pPr>
            <a:r>
              <a:rPr lang="pt-BR" dirty="0"/>
              <a:t>Um certo número de empregados trabalham no aeroporto. É necessário armazenar o seu Código, nome completo, endereço, cidade, estado, telefone, </a:t>
            </a:r>
            <a:r>
              <a:rPr lang="pt-BR" dirty="0" err="1"/>
              <a:t>email</a:t>
            </a:r>
            <a:r>
              <a:rPr lang="pt-BR" dirty="0"/>
              <a:t>.</a:t>
            </a:r>
          </a:p>
          <a:p>
            <a:pPr>
              <a:buClr>
                <a:srgbClr val="00B0F0"/>
              </a:buClr>
            </a:pPr>
            <a:r>
              <a:rPr lang="pt-BR" dirty="0"/>
              <a:t>Cada técnico é perito num ou mais modelos de aviões.</a:t>
            </a:r>
          </a:p>
          <a:p>
            <a:pPr>
              <a:buClr>
                <a:srgbClr val="00B0F0"/>
              </a:buClr>
            </a:pPr>
            <a:r>
              <a:rPr lang="pt-BR" dirty="0"/>
              <a:t>Cada técnico tem um código, nome completo, </a:t>
            </a:r>
            <a:r>
              <a:rPr lang="pt-BR" dirty="0" err="1"/>
              <a:t>email</a:t>
            </a:r>
            <a:r>
              <a:rPr lang="pt-BR" dirty="0"/>
              <a:t> e telefone.</a:t>
            </a:r>
          </a:p>
        </p:txBody>
      </p:sp>
    </p:spTree>
    <p:extLst>
      <p:ext uri="{BB962C8B-B14F-4D97-AF65-F5344CB8AC3E}">
        <p14:creationId xmlns:p14="http://schemas.microsoft.com/office/powerpoint/2010/main" val="2166659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000000"/>
      </a:lt2>
      <a:accent1>
        <a:srgbClr val="000000"/>
      </a:accent1>
      <a:accent2>
        <a:srgbClr val="000000"/>
      </a:accent2>
      <a:accent3>
        <a:srgbClr val="000000"/>
      </a:accent3>
      <a:accent4>
        <a:srgbClr val="000000"/>
      </a:accent4>
      <a:accent5>
        <a:srgbClr val="000000"/>
      </a:accent5>
      <a:accent6>
        <a:srgbClr val="000000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1045</TotalTime>
  <Words>1292</Words>
  <Application>Microsoft Office PowerPoint</Application>
  <PresentationFormat>Widescreen</PresentationFormat>
  <Paragraphs>174</Paragraphs>
  <Slides>19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19</vt:i4>
      </vt:variant>
    </vt:vector>
  </HeadingPairs>
  <TitlesOfParts>
    <vt:vector size="26" baseType="lpstr">
      <vt:lpstr>Arial</vt:lpstr>
      <vt:lpstr>Calibri Light</vt:lpstr>
      <vt:lpstr>DejaVu Sans</vt:lpstr>
      <vt:lpstr>Symbol</vt:lpstr>
      <vt:lpstr>Wingdings</vt:lpstr>
      <vt:lpstr>Office Theme</vt:lpstr>
      <vt:lpstr>Office Theme</vt:lpstr>
      <vt:lpstr>Apresentação do PowerPoint</vt:lpstr>
      <vt:lpstr>Criação de tabela</vt:lpstr>
      <vt:lpstr>Criação de tabela</vt:lpstr>
      <vt:lpstr>Criação de tabela</vt:lpstr>
      <vt:lpstr>Inserindo dados na tabela</vt:lpstr>
      <vt:lpstr>Inserindo dados na tabela</vt:lpstr>
      <vt:lpstr>Inserindo dados na tabela</vt:lpstr>
      <vt:lpstr>Inserindo dados na tabela</vt:lpstr>
      <vt:lpstr>Inserindo dados na tabela</vt:lpstr>
      <vt:lpstr>Inserindo dados na tabela</vt:lpstr>
      <vt:lpstr>Inserindo dados na tabela</vt:lpstr>
      <vt:lpstr>Inserindo dados na tabela</vt:lpstr>
      <vt:lpstr>Inserindo dados na tabela</vt:lpstr>
      <vt:lpstr>Inserindo dados na tabela</vt:lpstr>
      <vt:lpstr>Inserindo dados na tabela</vt:lpstr>
      <vt:lpstr>Inserindo dados na tabela</vt:lpstr>
      <vt:lpstr>Inserindo dados na tabela</vt:lpstr>
      <vt:lpstr>Hora da atividade :)          Empresa TchêUber</vt:lpstr>
      <vt:lpstr>Atividade 2                   Aeroporto</vt:lpstr>
    </vt:vector>
  </TitlesOfParts>
  <Company>PUCRS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</dc:title>
  <dc:subject/>
  <dc:creator>consulta3d</dc:creator>
  <dc:description/>
  <cp:lastModifiedBy>Taila Poliana Becker</cp:lastModifiedBy>
  <cp:revision>134</cp:revision>
  <dcterms:created xsi:type="dcterms:W3CDTF">2019-04-01T17:03:04Z</dcterms:created>
  <dcterms:modified xsi:type="dcterms:W3CDTF">2024-02-12T19:29:12Z</dcterms:modified>
  <dc:language>pt-BR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PUCRS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Widescreen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43</vt:i4>
  </property>
</Properties>
</file>