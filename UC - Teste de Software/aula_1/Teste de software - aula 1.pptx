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sldIdLst>
    <p:sldId id="256" r:id="rId2"/>
    <p:sldId id="313" r:id="rId3"/>
    <p:sldId id="257" r:id="rId4"/>
    <p:sldId id="258" r:id="rId5"/>
    <p:sldId id="293" r:id="rId6"/>
    <p:sldId id="294" r:id="rId7"/>
    <p:sldId id="295" r:id="rId8"/>
    <p:sldId id="298" r:id="rId9"/>
    <p:sldId id="297" r:id="rId10"/>
    <p:sldId id="296" r:id="rId11"/>
    <p:sldId id="299" r:id="rId12"/>
    <p:sldId id="304" r:id="rId13"/>
    <p:sldId id="305" r:id="rId14"/>
    <p:sldId id="306" r:id="rId15"/>
    <p:sldId id="307" r:id="rId16"/>
    <p:sldId id="309" r:id="rId17"/>
    <p:sldId id="310" r:id="rId18"/>
    <p:sldId id="314" r:id="rId19"/>
    <p:sldId id="300" r:id="rId20"/>
    <p:sldId id="301" r:id="rId21"/>
    <p:sldId id="302" r:id="rId22"/>
    <p:sldId id="303" r:id="rId23"/>
    <p:sldId id="31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52" d="100"/>
          <a:sy n="52" d="100"/>
        </p:scale>
        <p:origin x="4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778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89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951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75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03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72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26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8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502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38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37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FE75A03-8F2C-4950-8C71-9ED65D7A4231}" type="datetimeFigureOut">
              <a:rPr lang="pt-BR" smtClean="0"/>
              <a:t>25/08/2020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CEDAF20-D27E-42EB-80CE-D99130B50E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74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stqb.org.br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Teste de software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Prof</a:t>
            </a:r>
            <a:r>
              <a:rPr lang="pt-BR" dirty="0" smtClean="0"/>
              <a:t> Miguel </a:t>
            </a:r>
            <a:r>
              <a:rPr lang="pt-BR" dirty="0" err="1" smtClean="0"/>
              <a:t>Matiolla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242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UC13: Executar teste e implantação de aplicativos computacionais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Carga horária: 60 horas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Quantidade de aulas: 20 aulas</a:t>
            </a:r>
          </a:p>
          <a:p>
            <a:pPr marL="0" indent="0">
              <a:buNone/>
            </a:pPr>
            <a:r>
              <a:rPr lang="pt-BR" dirty="0" smtClean="0"/>
              <a:t>Quantidade máxima de faltas:  15 faltas (5 dias), sem justificativa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1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Por que testar um software?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6968"/>
          </a:xfrm>
        </p:spPr>
        <p:txBody>
          <a:bodyPr/>
          <a:lstStyle/>
          <a:p>
            <a:r>
              <a:rPr lang="pt-BR" dirty="0" smtClean="0"/>
              <a:t>Para garantir </a:t>
            </a:r>
            <a:r>
              <a:rPr lang="pt-BR" dirty="0"/>
              <a:t>s</a:t>
            </a:r>
            <a:r>
              <a:rPr lang="pt-BR" dirty="0" smtClean="0"/>
              <a:t>e as especificações ou os requisitos do negócio foram de fato implementados.</a:t>
            </a:r>
            <a:endParaRPr lang="pt-BR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1066800" y="28106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Objetivos dos testes</a:t>
            </a:r>
            <a:endParaRPr lang="pt-BR" dirty="0"/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838200" y="4279790"/>
            <a:ext cx="10515600" cy="1316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Encontrar o maior número possível de defeitos no software.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54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Mitos	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testador é inimigo do desenvolvedor.</a:t>
            </a:r>
          </a:p>
          <a:p>
            <a:r>
              <a:rPr lang="pt-BR" dirty="0" smtClean="0"/>
              <a:t>A equipe de testes pode ser montada com os desenvolvedores menos qualificados, pois qualquer um pode testar sistemas: é necessário uma equipe treinada e qualificada.</a:t>
            </a:r>
          </a:p>
          <a:p>
            <a:r>
              <a:rPr lang="pt-BR" dirty="0" smtClean="0"/>
              <a:t>Quando estiver tudo pronto, o software seguirá para o pessoal fazer o teste: este tipo de teste, antes da implementação ao usuário é o teste de aceitação, feito pelo cliente. O teste deve ser implementado desde o início do desenvolvimento do software.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360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Quais as Características do Profissional de Testes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Perfeccionista;</a:t>
            </a:r>
          </a:p>
          <a:p>
            <a:r>
              <a:rPr lang="pt-BR" dirty="0" smtClean="0"/>
              <a:t> </a:t>
            </a:r>
            <a:r>
              <a:rPr lang="pt-BR" dirty="0"/>
              <a:t>Atento e minimalista; </a:t>
            </a:r>
            <a:endParaRPr lang="pt-BR" dirty="0" smtClean="0"/>
          </a:p>
          <a:p>
            <a:r>
              <a:rPr lang="pt-BR" dirty="0" smtClean="0"/>
              <a:t>Proativo</a:t>
            </a:r>
            <a:r>
              <a:rPr lang="pt-BR" dirty="0"/>
              <a:t>; </a:t>
            </a:r>
            <a:endParaRPr lang="pt-BR" dirty="0" smtClean="0"/>
          </a:p>
          <a:p>
            <a:r>
              <a:rPr lang="pt-BR" dirty="0" smtClean="0"/>
              <a:t>Conhecimento </a:t>
            </a:r>
            <a:r>
              <a:rPr lang="pt-BR" dirty="0"/>
              <a:t>em Programação; </a:t>
            </a:r>
            <a:endParaRPr lang="pt-BR" dirty="0" smtClean="0"/>
          </a:p>
          <a:p>
            <a:r>
              <a:rPr lang="pt-BR" dirty="0" smtClean="0"/>
              <a:t>Conhecimento </a:t>
            </a:r>
            <a:r>
              <a:rPr lang="pt-BR" dirty="0"/>
              <a:t>no Negócio do Cliente; </a:t>
            </a:r>
            <a:endParaRPr lang="pt-BR" dirty="0" smtClean="0"/>
          </a:p>
          <a:p>
            <a:r>
              <a:rPr lang="pt-BR" dirty="0" smtClean="0"/>
              <a:t>Habilidade </a:t>
            </a:r>
            <a:r>
              <a:rPr lang="pt-BR" dirty="0"/>
              <a:t>de Interagir com Pessoas; </a:t>
            </a:r>
            <a:endParaRPr lang="pt-BR" dirty="0" smtClean="0"/>
          </a:p>
          <a:p>
            <a:r>
              <a:rPr lang="pt-BR" dirty="0" smtClean="0"/>
              <a:t>Empatia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7389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Testar o </a:t>
            </a:r>
            <a:r>
              <a:rPr lang="pt-BR" dirty="0" smtClean="0"/>
              <a:t>Software?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exemplos de falhas em software que custaram milhões a empresas e organizações públicas são inúmeras; </a:t>
            </a:r>
          </a:p>
          <a:p>
            <a:r>
              <a:rPr lang="pt-BR" dirty="0" smtClean="0"/>
              <a:t>Softwares </a:t>
            </a:r>
            <a:r>
              <a:rPr lang="pt-BR" dirty="0"/>
              <a:t>que mantém hospitais, softwares utilizados para controle de trânsito, software embarcado em veículos quando falham podem custar uma vida; </a:t>
            </a:r>
          </a:p>
          <a:p>
            <a:r>
              <a:rPr lang="pt-BR" dirty="0" smtClean="0"/>
              <a:t>NINGUÉM </a:t>
            </a:r>
            <a:r>
              <a:rPr lang="pt-BR" dirty="0"/>
              <a:t>gosta quando o software apresenta erros ou para de funcionar!</a:t>
            </a:r>
          </a:p>
        </p:txBody>
      </p:sp>
    </p:spTree>
    <p:extLst>
      <p:ext uri="{BB962C8B-B14F-4D97-AF65-F5344CB8AC3E}">
        <p14:creationId xmlns:p14="http://schemas.microsoft.com/office/powerpoint/2010/main" val="67911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Falha, erro ou defeito?</a:t>
            </a:r>
            <a:endParaRPr lang="pt-BR" dirty="0"/>
          </a:p>
        </p:txBody>
      </p:sp>
      <p:pic>
        <p:nvPicPr>
          <p:cNvPr id="1026" name="Picture 2" descr="Resultado de imagem para falha erro ou defeit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0437" y="2897981"/>
            <a:ext cx="519112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3500437" y="5320145"/>
            <a:ext cx="5191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Acessibilidade:</a:t>
            </a:r>
          </a:p>
          <a:p>
            <a:r>
              <a:rPr lang="pt-BR" dirty="0" smtClean="0"/>
              <a:t>Falha (universo físico)</a:t>
            </a:r>
          </a:p>
          <a:p>
            <a:r>
              <a:rPr lang="pt-BR" dirty="0" smtClean="0"/>
              <a:t>Erro (Universo da informação)</a:t>
            </a:r>
          </a:p>
          <a:p>
            <a:r>
              <a:rPr lang="pt-BR" dirty="0" smtClean="0"/>
              <a:t>Defeito (Universo do usuário)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169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Esta mais ligada ao hardware, como uma rede inacessível, queda de energia. Uma falha pode ocorrer por causa de um erro, por exemplo, houve </a:t>
            </a:r>
            <a:r>
              <a:rPr lang="pt-BR" dirty="0" smtClean="0"/>
              <a:t>uma falha no sistema, devido a problemas relacionados a equipamentos </a:t>
            </a:r>
            <a:r>
              <a:rPr lang="pt-BR" dirty="0"/>
              <a:t>d</a:t>
            </a:r>
            <a:r>
              <a:rPr lang="pt-BR" dirty="0" smtClean="0"/>
              <a:t>e baixa qualidade (equipamentos que não conseguem suprir a demanda do sistema).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5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Erro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</a:t>
            </a:r>
            <a:r>
              <a:rPr lang="pt-BR" dirty="0"/>
              <a:t>Erro pode ser um resultado de um defeito ou uma falha, como um retorno esperado, que por causa de uma falha teve um valor diferente do que esperado.</a:t>
            </a:r>
          </a:p>
          <a:p>
            <a:pPr marL="0" indent="0">
              <a:buNone/>
            </a:pP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381965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Defeito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É qualquer imperfeição ou inconsistência no produto do software ou em seu processo, um defeito é também uma não conformidade. O Defeito faz parte do produto, é algo que esta implementada no código de maneira errada.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917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artefatos de teste</a:t>
            </a:r>
            <a:r>
              <a:rPr lang="pt-BR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Todo </a:t>
            </a:r>
            <a:r>
              <a:rPr lang="pt-BR" dirty="0"/>
              <a:t>material produzido para realização de testes ou para o projeto de testes; </a:t>
            </a:r>
          </a:p>
          <a:p>
            <a:r>
              <a:rPr lang="pt-BR" dirty="0" smtClean="0"/>
              <a:t>Documentação, </a:t>
            </a:r>
            <a:r>
              <a:rPr lang="pt-BR" dirty="0"/>
              <a:t>casos de teste, cenário de teste, plano de teste, relato de falhas; </a:t>
            </a:r>
          </a:p>
          <a:p>
            <a:r>
              <a:rPr lang="pt-BR" dirty="0" smtClean="0"/>
              <a:t>Os </a:t>
            </a:r>
            <a:r>
              <a:rPr lang="pt-BR" dirty="0"/>
              <a:t>mais importantes são os cenários de testes e os casos de teste (ou script de teste) </a:t>
            </a:r>
          </a:p>
        </p:txBody>
      </p:sp>
    </p:spTree>
    <p:extLst>
      <p:ext uri="{BB962C8B-B14F-4D97-AF65-F5344CB8AC3E}">
        <p14:creationId xmlns:p14="http://schemas.microsoft.com/office/powerpoint/2010/main" val="124526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7430" y="2582113"/>
            <a:ext cx="10515600" cy="1325563"/>
          </a:xfrm>
        </p:spPr>
        <p:txBody>
          <a:bodyPr/>
          <a:lstStyle/>
          <a:p>
            <a:pPr algn="ctr"/>
            <a:r>
              <a:rPr lang="pt-BR" dirty="0" smtClean="0"/>
              <a:t>Princípios fundamentais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831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Princípio 1 – Teste demonstra a presença de defeitos O teste pode demonstrar a presença de defeitos, mas não pode provar que eles não existem. O Teste reduz a probabilidade que os defeitos permaneçam em um software, mas mesmo se nenhum defeito for encontrado, não prova que ele esteja perfeito.</a:t>
            </a:r>
          </a:p>
        </p:txBody>
      </p:sp>
    </p:spTree>
    <p:extLst>
      <p:ext uri="{BB962C8B-B14F-4D97-AF65-F5344CB8AC3E}">
        <p14:creationId xmlns:p14="http://schemas.microsoft.com/office/powerpoint/2010/main" val="138443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Princípio 2 – Teste exaustivo é impossível</a:t>
            </a:r>
          </a:p>
          <a:p>
            <a:r>
              <a:rPr lang="pt-BR" dirty="0"/>
              <a:t>Testar tudo (todas as combinações de entradas e pré-condições) não é viável, exceto para casos triviais. Em vez do teste exaustivo, riscos e prioridades são levados em consideração para dar foco aos esforços de teste.</a:t>
            </a:r>
          </a:p>
        </p:txBody>
      </p:sp>
    </p:spTree>
    <p:extLst>
      <p:ext uri="{BB962C8B-B14F-4D97-AF65-F5344CB8AC3E}">
        <p14:creationId xmlns:p14="http://schemas.microsoft.com/office/powerpoint/2010/main" val="132272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Princípio </a:t>
            </a:r>
            <a:r>
              <a:rPr lang="pt-BR" dirty="0" smtClean="0"/>
              <a:t>3 </a:t>
            </a:r>
            <a:r>
              <a:rPr lang="pt-BR" dirty="0"/>
              <a:t>– Agrupamento de defeitos</a:t>
            </a:r>
          </a:p>
          <a:p>
            <a:r>
              <a:rPr lang="pt-BR" dirty="0"/>
              <a:t>Um número pequeno de módulos contém a maioria dos defeitos descobertos durante o teste antes de sua entrega ou exibe a maioria das falhas operacionais.</a:t>
            </a:r>
          </a:p>
        </p:txBody>
      </p:sp>
    </p:spTree>
    <p:extLst>
      <p:ext uri="{BB962C8B-B14F-4D97-AF65-F5344CB8AC3E}">
        <p14:creationId xmlns:p14="http://schemas.microsoft.com/office/powerpoint/2010/main" val="6677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Princípio </a:t>
            </a:r>
            <a:r>
              <a:rPr lang="pt-BR" dirty="0" smtClean="0"/>
              <a:t>4 </a:t>
            </a:r>
            <a:r>
              <a:rPr lang="pt-BR" dirty="0"/>
              <a:t>– Teste depende do contexto</a:t>
            </a:r>
          </a:p>
          <a:p>
            <a:r>
              <a:rPr lang="pt-BR" dirty="0"/>
              <a:t>Testes são realizados de forma diferente conforme o contexto. Por exemplo, softwares de </a:t>
            </a:r>
            <a:r>
              <a:rPr lang="pt-BR" dirty="0" smtClean="0"/>
              <a:t>cadastro de clientes </a:t>
            </a:r>
            <a:r>
              <a:rPr lang="pt-BR" dirty="0"/>
              <a:t>são testados diferentemente de um software de comércio eletrônico.</a:t>
            </a:r>
          </a:p>
        </p:txBody>
      </p:sp>
    </p:spTree>
    <p:extLst>
      <p:ext uri="{BB962C8B-B14F-4D97-AF65-F5344CB8AC3E}">
        <p14:creationId xmlns:p14="http://schemas.microsoft.com/office/powerpoint/2010/main" val="360437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Princípio </a:t>
            </a:r>
            <a:r>
              <a:rPr lang="pt-BR" dirty="0" smtClean="0"/>
              <a:t>5 </a:t>
            </a:r>
            <a:r>
              <a:rPr lang="pt-BR" dirty="0"/>
              <a:t>– A ilusão da ausência de erros</a:t>
            </a:r>
          </a:p>
          <a:p>
            <a:r>
              <a:rPr lang="pt-BR" dirty="0"/>
              <a:t>Encontrar e consertar defeitos não ajuda se o sistema construído não atende às expectativas e necessidades dos usuários.</a:t>
            </a:r>
          </a:p>
        </p:txBody>
      </p:sp>
    </p:spTree>
    <p:extLst>
      <p:ext uri="{BB962C8B-B14F-4D97-AF65-F5344CB8AC3E}">
        <p14:creationId xmlns:p14="http://schemas.microsoft.com/office/powerpoint/2010/main" val="98888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43998" y="1463040"/>
            <a:ext cx="2821579" cy="39319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sz="2200" b="1" dirty="0"/>
              <a:t>Teste Caixa Branca</a:t>
            </a:r>
          </a:p>
          <a:p>
            <a:r>
              <a:rPr lang="pt-BR" sz="2200" dirty="0"/>
              <a:t>Possui acesso ao código fonte, conhecendo a estrutura interna do produto.</a:t>
            </a:r>
          </a:p>
          <a:p>
            <a:endParaRPr lang="pt-BR" sz="2200" dirty="0" smtClean="0"/>
          </a:p>
          <a:p>
            <a:pPr marL="0" indent="0">
              <a:buNone/>
            </a:pPr>
            <a:r>
              <a:rPr lang="pt-BR" sz="2200" b="1" dirty="0"/>
              <a:t>Teste Caixa Preta</a:t>
            </a:r>
          </a:p>
          <a:p>
            <a:r>
              <a:rPr lang="pt-BR" sz="2200" dirty="0"/>
              <a:t>Baseia-se nos requisitos básicos do software, sendo o foco nos requisitos da aplicação, ou seja, nas ações que deve desempenhar. </a:t>
            </a:r>
          </a:p>
          <a:p>
            <a:endParaRPr lang="pt-BR" dirty="0"/>
          </a:p>
        </p:txBody>
      </p:sp>
      <p:pic>
        <p:nvPicPr>
          <p:cNvPr id="1026" name="Picture 2" descr="Você sabe o que é Teste Caixa Branca e Teste Caixa Preta? | b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6165668" y="5966154"/>
            <a:ext cx="310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https://www.bstqb.org.br/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94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Cenário de </a:t>
            </a:r>
            <a:r>
              <a:rPr lang="pt-BR" dirty="0" smtClean="0"/>
              <a:t>Teste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Descreve </a:t>
            </a:r>
            <a:r>
              <a:rPr lang="pt-BR" dirty="0"/>
              <a:t>“a grosso” modo uma funcionalidade de um determinado sistema em teste, por exemplo:</a:t>
            </a:r>
          </a:p>
          <a:p>
            <a:r>
              <a:rPr lang="pt-BR" dirty="0"/>
              <a:t>Cenário 01 - </a:t>
            </a:r>
            <a:r>
              <a:rPr lang="pt-BR" dirty="0" err="1"/>
              <a:t>Login</a:t>
            </a:r>
            <a:r>
              <a:rPr lang="pt-BR" dirty="0"/>
              <a:t> </a:t>
            </a:r>
            <a:r>
              <a:rPr lang="pt-BR" dirty="0" err="1"/>
              <a:t>Facebook</a:t>
            </a:r>
            <a:r>
              <a:rPr lang="pt-BR" dirty="0"/>
              <a:t> </a:t>
            </a:r>
            <a:endParaRPr lang="pt-BR" dirty="0" smtClean="0"/>
          </a:p>
          <a:p>
            <a:pPr lvl="1"/>
            <a:r>
              <a:rPr lang="pt-BR" dirty="0" smtClean="0"/>
              <a:t>Objetivo</a:t>
            </a:r>
            <a:r>
              <a:rPr lang="pt-BR" dirty="0"/>
              <a:t>: Este cenário tem por objetivo validar todos os casos de teste relacionados ao </a:t>
            </a:r>
            <a:r>
              <a:rPr lang="pt-BR" dirty="0" err="1"/>
              <a:t>login</a:t>
            </a:r>
            <a:r>
              <a:rPr lang="pt-BR" dirty="0"/>
              <a:t> da </a:t>
            </a:r>
            <a:r>
              <a:rPr lang="pt-BR" dirty="0" err="1"/>
              <a:t>webpage</a:t>
            </a:r>
            <a:r>
              <a:rPr lang="pt-BR" dirty="0"/>
              <a:t> </a:t>
            </a:r>
            <a:r>
              <a:rPr lang="pt-BR" dirty="0" err="1"/>
              <a:t>facebook</a:t>
            </a:r>
            <a:r>
              <a:rPr lang="pt-BR" dirty="0"/>
              <a:t> </a:t>
            </a:r>
            <a:endParaRPr lang="pt-BR" dirty="0" smtClean="0"/>
          </a:p>
          <a:p>
            <a:pPr lvl="1"/>
            <a:r>
              <a:rPr lang="pt-BR" dirty="0" smtClean="0"/>
              <a:t>Pré-requisitos</a:t>
            </a:r>
            <a:r>
              <a:rPr lang="pt-BR" dirty="0"/>
              <a:t>: acesso a internet, usuário e senha válidos do </a:t>
            </a:r>
            <a:r>
              <a:rPr lang="pt-BR" dirty="0" err="1"/>
              <a:t>facebook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827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</a:t>
            </a:r>
            <a:r>
              <a:rPr lang="pt-BR" dirty="0" smtClean="0"/>
              <a:t>Teste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Caso </a:t>
            </a:r>
            <a:r>
              <a:rPr lang="pt-BR" dirty="0"/>
              <a:t>de Teste Positivo: </a:t>
            </a:r>
          </a:p>
          <a:p>
            <a:pPr marL="0" indent="0">
              <a:buNone/>
            </a:pPr>
            <a:r>
              <a:rPr lang="pt-BR" dirty="0"/>
              <a:t>1. Efetuar </a:t>
            </a:r>
            <a:r>
              <a:rPr lang="pt-BR" dirty="0" err="1"/>
              <a:t>login</a:t>
            </a:r>
            <a:r>
              <a:rPr lang="pt-BR" dirty="0"/>
              <a:t> no </a:t>
            </a:r>
            <a:r>
              <a:rPr lang="pt-BR" dirty="0" err="1"/>
              <a:t>facebook</a:t>
            </a:r>
            <a:r>
              <a:rPr lang="pt-BR" dirty="0"/>
              <a:t> com sucesso;</a:t>
            </a:r>
          </a:p>
          <a:p>
            <a:r>
              <a:rPr lang="pt-BR" dirty="0"/>
              <a:t>Caso de Teste Negativo: </a:t>
            </a:r>
          </a:p>
          <a:p>
            <a:pPr marL="0" indent="0">
              <a:buNone/>
            </a:pPr>
            <a:r>
              <a:rPr lang="pt-BR" dirty="0"/>
              <a:t>2. Efetuar </a:t>
            </a:r>
            <a:r>
              <a:rPr lang="pt-BR" dirty="0" err="1"/>
              <a:t>login</a:t>
            </a:r>
            <a:r>
              <a:rPr lang="pt-BR" dirty="0"/>
              <a:t> no </a:t>
            </a:r>
            <a:r>
              <a:rPr lang="pt-BR" dirty="0" err="1"/>
              <a:t>facebook</a:t>
            </a:r>
            <a:r>
              <a:rPr lang="pt-BR" dirty="0"/>
              <a:t> com </a:t>
            </a:r>
            <a:r>
              <a:rPr lang="pt-BR" dirty="0" err="1"/>
              <a:t>login</a:t>
            </a:r>
            <a:r>
              <a:rPr lang="pt-BR" dirty="0"/>
              <a:t> inválido;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3</a:t>
            </a:r>
            <a:r>
              <a:rPr lang="pt-BR" dirty="0"/>
              <a:t>. Efetuar </a:t>
            </a:r>
            <a:r>
              <a:rPr lang="pt-BR" dirty="0" err="1"/>
              <a:t>login</a:t>
            </a:r>
            <a:r>
              <a:rPr lang="pt-BR" dirty="0"/>
              <a:t> no </a:t>
            </a:r>
            <a:r>
              <a:rPr lang="pt-BR" dirty="0" err="1"/>
              <a:t>facebook</a:t>
            </a:r>
            <a:r>
              <a:rPr lang="pt-BR" dirty="0"/>
              <a:t> com usuário já cadastrado;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4</a:t>
            </a:r>
            <a:r>
              <a:rPr lang="pt-BR" dirty="0"/>
              <a:t>. Efetuar </a:t>
            </a:r>
            <a:r>
              <a:rPr lang="pt-BR" dirty="0" err="1"/>
              <a:t>login</a:t>
            </a:r>
            <a:r>
              <a:rPr lang="pt-BR" dirty="0"/>
              <a:t> sem preencher a senha;</a:t>
            </a:r>
          </a:p>
        </p:txBody>
      </p:sp>
    </p:spTree>
    <p:extLst>
      <p:ext uri="{BB962C8B-B14F-4D97-AF65-F5344CB8AC3E}">
        <p14:creationId xmlns:p14="http://schemas.microsoft.com/office/powerpoint/2010/main" val="337253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do Caso de Teste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014194"/>
            <a:ext cx="10058400" cy="287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2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Corpo do Caso de </a:t>
            </a:r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304" y="1778225"/>
            <a:ext cx="10634692" cy="447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2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Acesse </a:t>
            </a:r>
            <a:r>
              <a:rPr lang="pt-BR" dirty="0" smtClean="0"/>
              <a:t>seu </a:t>
            </a:r>
            <a:r>
              <a:rPr lang="pt-BR" dirty="0" smtClean="0"/>
              <a:t>sistema do Senac e </a:t>
            </a:r>
            <a:r>
              <a:rPr lang="pt-BR" dirty="0"/>
              <a:t>identifique </a:t>
            </a:r>
            <a:r>
              <a:rPr lang="pt-BR" dirty="0" smtClean="0"/>
              <a:t>nela </a:t>
            </a:r>
            <a:r>
              <a:rPr lang="pt-BR" dirty="0"/>
              <a:t>dois possíveis cenários de testes. </a:t>
            </a:r>
            <a:endParaRPr lang="pt-BR" dirty="0" smtClean="0"/>
          </a:p>
          <a:p>
            <a:r>
              <a:rPr lang="pt-BR" dirty="0" smtClean="0"/>
              <a:t>Descreve </a:t>
            </a:r>
            <a:r>
              <a:rPr lang="pt-BR" dirty="0"/>
              <a:t>em detalhes </a:t>
            </a:r>
            <a:r>
              <a:rPr lang="pt-BR" dirty="0" smtClean="0"/>
              <a:t>do </a:t>
            </a:r>
            <a:r>
              <a:rPr lang="pt-BR" dirty="0"/>
              <a:t>teste que deverá ser executado; </a:t>
            </a:r>
          </a:p>
          <a:p>
            <a:r>
              <a:rPr lang="pt-BR" dirty="0" smtClean="0"/>
              <a:t>Em </a:t>
            </a:r>
            <a:r>
              <a:rPr lang="pt-BR" dirty="0"/>
              <a:t>um caso de teste é descrito passo a passo as ações que devem ser executadas no sistema e o resultado esperado para cada uma destas ações; </a:t>
            </a:r>
          </a:p>
          <a:p>
            <a:r>
              <a:rPr lang="pt-BR" dirty="0" smtClean="0"/>
              <a:t>Cada </a:t>
            </a:r>
            <a:r>
              <a:rPr lang="pt-BR" dirty="0"/>
              <a:t>“caminho” que existe no sistema em teste deverá gerar um novo caso de teste;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586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624</TotalTime>
  <Words>864</Words>
  <Application>Microsoft Office PowerPoint</Application>
  <PresentationFormat>Widescreen</PresentationFormat>
  <Paragraphs>79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Garamond</vt:lpstr>
      <vt:lpstr>Savon</vt:lpstr>
      <vt:lpstr>Teste de software</vt:lpstr>
      <vt:lpstr>Teste de Software</vt:lpstr>
      <vt:lpstr>Por que testar um software?</vt:lpstr>
      <vt:lpstr>Mitos </vt:lpstr>
      <vt:lpstr>Quais as Características do Profissional de Testes </vt:lpstr>
      <vt:lpstr>Por que Testar o Software?</vt:lpstr>
      <vt:lpstr>Falha, erro ou defeito?</vt:lpstr>
      <vt:lpstr>Falha</vt:lpstr>
      <vt:lpstr>Erro </vt:lpstr>
      <vt:lpstr>Defeito</vt:lpstr>
      <vt:lpstr>O que são artefatos de teste?</vt:lpstr>
      <vt:lpstr>Princípios fundamentais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Cenário de Teste</vt:lpstr>
      <vt:lpstr>Caso de Teste</vt:lpstr>
      <vt:lpstr>Cabeçalho do Caso de Teste</vt:lpstr>
      <vt:lpstr>Corpo do Caso de Teste</vt:lpstr>
      <vt:lpstr>Prática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de software</dc:title>
  <dc:creator>Andressa Dellay Agra</dc:creator>
  <cp:lastModifiedBy>Senac</cp:lastModifiedBy>
  <cp:revision>96</cp:revision>
  <dcterms:created xsi:type="dcterms:W3CDTF">2019-08-20T20:32:03Z</dcterms:created>
  <dcterms:modified xsi:type="dcterms:W3CDTF">2020-08-25T14:55:59Z</dcterms:modified>
</cp:coreProperties>
</file>